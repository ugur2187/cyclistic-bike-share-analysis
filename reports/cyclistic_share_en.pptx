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8.xml" ContentType="application/vnd.openxmlformats-officedocument.presentationml.notesSlide+xml"/>
  <Override PartName="/ppt/charts/chart5.xml" ContentType="application/vnd.openxmlformats-officedocument.drawingml.chart+xml"/>
  <Override PartName="/ppt/notesSlides/notesSlide9.xml" ContentType="application/vnd.openxmlformats-officedocument.presentationml.notesSlide+xml"/>
  <Override PartName="/ppt/charts/chart6.xml" ContentType="application/vnd.openxmlformats-officedocument.drawingml.chart+xml"/>
  <Override PartName="/ppt/notesSlides/notesSlide10.xml" ContentType="application/vnd.openxmlformats-officedocument.presentationml.notesSlide+xml"/>
  <Override PartName="/ppt/charts/chart7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A46C17C5-BF6C-6184-0507-37B5D975D052}">
          <p14:sldIdLst>
            <p14:sldId id="256"/>
            <p14:sldId id="257"/>
            <p14:sldId id="258"/>
            <p14:sldId id="259"/>
          </p14:sldIdLst>
        </p14:section>
        <p14:section name="Findings" id="{0942EEBE-6489-33CD-351D-F782CD7403A4}">
          <p14:sldIdLst>
            <p14:sldId id="260"/>
            <p14:sldId id="261"/>
            <p14:sldId id="262"/>
            <p14:sldId id="263"/>
            <p14:sldId id="264"/>
            <p14:sldId id="265"/>
          </p14:sldIdLst>
        </p14:section>
        <p14:section name="Conclusion" id="{0F8E8346-54CC-93F5-ABEA-251AB589B186}">
          <p14:sldIdLst>
            <p14:sldId id="266"/>
            <p14:sldId id="267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47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Casual share of trips (%)</c:v>
                </c:pt>
              </c:strCache>
            </c:strRef>
          </c:tx>
          <c:spPr>
            <a:ln w="38100" cap="flat">
              <a:solidFill>
                <a:srgbClr val="E8793A"/>
              </a:solidFill>
              <a:prstDash val="solid"/>
              <a:round/>
            </a:ln>
            <a:effectLst/>
          </c:spPr>
          <c:marker>
            <c:symbol val="circle"/>
            <c:size val="9"/>
            <c:spPr>
              <a:solidFill>
                <a:srgbClr val="E8793A"/>
              </a:solidFill>
              <a:ln w="9525" cap="flat">
                <a:solidFill>
                  <a:srgbClr val="E8793A"/>
                </a:solidFill>
                <a:prstDash val="solid"/>
                <a:round/>
              </a:ln>
              <a:effectLst/>
            </c:spPr>
          </c:marker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F2A33"/>
                    </a:solidFill>
                    <a:latin typeface="+mn-lt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Oct 25</c:v>
                </c:pt>
                <c:pt idx="1">
                  <c:v>Nov</c:v>
                </c:pt>
                <c:pt idx="2">
                  <c:v>Dec</c:v>
                </c:pt>
                <c:pt idx="3">
                  <c:v>Jan 26</c:v>
                </c:pt>
                <c:pt idx="4">
                  <c:v>Feb</c:v>
                </c:pt>
                <c:pt idx="5">
                  <c:v>Mar</c:v>
                </c:pt>
                <c:pt idx="6">
                  <c:v>Apr</c:v>
                </c:pt>
                <c:pt idx="7">
                  <c:v>May</c:v>
                </c:pt>
                <c:pt idx="8">
                  <c:v>Jun</c:v>
                </c:pt>
                <c:pt idx="9">
                  <c:v>Jul</c:v>
                </c:pt>
                <c:pt idx="10">
                  <c:v>Aug</c:v>
                </c:pt>
                <c:pt idx="11">
                  <c:v>Sep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34.1</c:v>
                </c:pt>
                <c:pt idx="1">
                  <c:v>27.3</c:v>
                </c:pt>
                <c:pt idx="2">
                  <c:v>19.899999999999999</c:v>
                </c:pt>
                <c:pt idx="3">
                  <c:v>17.899999999999999</c:v>
                </c:pt>
                <c:pt idx="4">
                  <c:v>20.3</c:v>
                </c:pt>
                <c:pt idx="5">
                  <c:v>27.5</c:v>
                </c:pt>
                <c:pt idx="6">
                  <c:v>29.2</c:v>
                </c:pt>
                <c:pt idx="7">
                  <c:v>37.1</c:v>
                </c:pt>
                <c:pt idx="8">
                  <c:v>40.1</c:v>
                </c:pt>
                <c:pt idx="9">
                  <c:v>40.799999999999997</c:v>
                </c:pt>
                <c:pt idx="10">
                  <c:v>39.6</c:v>
                </c:pt>
                <c:pt idx="11">
                  <c:v>37.799999999999997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C37-4CBD-9B6C-CFB33B4910A7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77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0"/>
          <c:min val="0"/>
        </c:scaling>
        <c:delete val="0"/>
        <c:axPos val="l"/>
        <c:majorGridlines>
          <c:spPr>
            <a:ln w="9525" cap="flat">
              <a:solidFill>
                <a:srgbClr val="E3E8EA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77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Members</c:v>
                </c:pt>
              </c:strCache>
            </c:strRef>
          </c:tx>
          <c:spPr>
            <a:solidFill>
              <a:srgbClr val="1B7F8C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F2A33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Mon</c:v>
                </c:pt>
                <c:pt idx="1">
                  <c:v>Tue</c:v>
                </c:pt>
                <c:pt idx="2">
                  <c:v>Wed</c:v>
                </c:pt>
                <c:pt idx="3">
                  <c:v>Thu</c:v>
                </c:pt>
                <c:pt idx="4">
                  <c:v>Fri</c:v>
                </c:pt>
                <c:pt idx="5">
                  <c:v>Sat</c:v>
                </c:pt>
                <c:pt idx="6">
                  <c:v>Sun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14</c:v>
                </c:pt>
                <c:pt idx="1">
                  <c:v>16.100000000000001</c:v>
                </c:pt>
                <c:pt idx="2">
                  <c:v>16.2</c:v>
                </c:pt>
                <c:pt idx="3">
                  <c:v>15.8</c:v>
                </c:pt>
                <c:pt idx="4">
                  <c:v>14.7</c:v>
                </c:pt>
                <c:pt idx="5">
                  <c:v>12.8</c:v>
                </c:pt>
                <c:pt idx="6">
                  <c:v>10.5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856-49E6-AC49-05BDF5DA1CE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Casual</c:v>
                </c:pt>
              </c:strCache>
            </c:strRef>
          </c:tx>
          <c:spPr>
            <a:solidFill>
              <a:srgbClr val="E8793A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F2A33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Mon</c:v>
                </c:pt>
                <c:pt idx="1">
                  <c:v>Tue</c:v>
                </c:pt>
                <c:pt idx="2">
                  <c:v>Wed</c:v>
                </c:pt>
                <c:pt idx="3">
                  <c:v>Thu</c:v>
                </c:pt>
                <c:pt idx="4">
                  <c:v>Fri</c:v>
                </c:pt>
                <c:pt idx="5">
                  <c:v>Sat</c:v>
                </c:pt>
                <c:pt idx="6">
                  <c:v>Sun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11.5</c:v>
                </c:pt>
                <c:pt idx="1">
                  <c:v>11.4</c:v>
                </c:pt>
                <c:pt idx="2">
                  <c:v>11.7</c:v>
                </c:pt>
                <c:pt idx="3">
                  <c:v>12.5</c:v>
                </c:pt>
                <c:pt idx="4">
                  <c:v>15.7</c:v>
                </c:pt>
                <c:pt idx="5">
                  <c:v>21.2</c:v>
                </c:pt>
                <c:pt idx="6">
                  <c:v>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856-49E6-AC49-05BDF5DA1CE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77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5"/>
          <c:min val="0"/>
        </c:scaling>
        <c:delete val="0"/>
        <c:axPos val="l"/>
        <c:majorGridlines>
          <c:spPr>
            <a:ln w="9525" cap="flat">
              <a:solidFill>
                <a:srgbClr val="E3E8EA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77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5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F2A33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1"/>
  <c:style val="2"/>
  <c:chart>
    <c:title>
      <c:tx>
        <c:rich>
          <a:bodyPr/>
          <a:lstStyle/>
          <a:p>
            <a:pPr>
              <a:defRPr sz="1600" b="0" i="0" u="none" strike="noStrike">
                <a:solidFill>
                  <a:srgbClr val="1F2A33"/>
                </a:solidFill>
                <a:latin typeface="+mn-lt"/>
              </a:defRPr>
            </a:pPr>
            <a:r>
              <a:rPr lang="en-US" sz="1600" b="0" i="0" u="none" strike="noStrike">
                <a:solidFill>
                  <a:srgbClr val="1F2A33"/>
                </a:solidFill>
                <a:latin typeface="+mn-lt"/>
              </a:rPr>
              <a:t>Weekdays (Mon–Fri), share by hour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Members</c:v>
                </c:pt>
              </c:strCache>
            </c:strRef>
          </c:tx>
          <c:spPr>
            <a:ln w="38100" cap="flat">
              <a:solidFill>
                <a:srgbClr val="1B7F8C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1B7F8C"/>
              </a:solidFill>
              <a:ln w="9525" cap="flat">
                <a:solidFill>
                  <a:srgbClr val="1B7F8C"/>
                </a:solidFill>
                <a:prstDash val="solid"/>
                <a:round/>
              </a:ln>
              <a:effectLst/>
            </c:spPr>
          </c:marker>
          <c:cat>
            <c:strRef>
              <c:f>Sheet1!$A$2:$A$25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0.6</c:v>
                </c:pt>
                <c:pt idx="1">
                  <c:v>0.3</c:v>
                </c:pt>
                <c:pt idx="2">
                  <c:v>0.2</c:v>
                </c:pt>
                <c:pt idx="3">
                  <c:v>0.1</c:v>
                </c:pt>
                <c:pt idx="4">
                  <c:v>0.2</c:v>
                </c:pt>
                <c:pt idx="5">
                  <c:v>1.1000000000000001</c:v>
                </c:pt>
                <c:pt idx="6">
                  <c:v>3.4</c:v>
                </c:pt>
                <c:pt idx="7">
                  <c:v>6.7</c:v>
                </c:pt>
                <c:pt idx="8">
                  <c:v>8.4</c:v>
                </c:pt>
                <c:pt idx="9">
                  <c:v>4.5</c:v>
                </c:pt>
                <c:pt idx="10">
                  <c:v>3.2</c:v>
                </c:pt>
                <c:pt idx="11">
                  <c:v>3.7</c:v>
                </c:pt>
                <c:pt idx="12">
                  <c:v>4.4000000000000004</c:v>
                </c:pt>
                <c:pt idx="13">
                  <c:v>4.3</c:v>
                </c:pt>
                <c:pt idx="14">
                  <c:v>4.4000000000000004</c:v>
                </c:pt>
                <c:pt idx="15">
                  <c:v>6.3</c:v>
                </c:pt>
                <c:pt idx="16">
                  <c:v>9.9</c:v>
                </c:pt>
                <c:pt idx="17">
                  <c:v>11.9</c:v>
                </c:pt>
                <c:pt idx="18">
                  <c:v>9</c:v>
                </c:pt>
                <c:pt idx="19">
                  <c:v>6.1</c:v>
                </c:pt>
                <c:pt idx="20">
                  <c:v>4.3</c:v>
                </c:pt>
                <c:pt idx="21">
                  <c:v>3.3</c:v>
                </c:pt>
                <c:pt idx="22">
                  <c:v>2.2999999999999998</c:v>
                </c:pt>
                <c:pt idx="23">
                  <c:v>1.4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B3B-4B6A-BBAD-B0BC82F853A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Casual</c:v>
                </c:pt>
              </c:strCache>
            </c:strRef>
          </c:tx>
          <c:spPr>
            <a:ln w="38100" cap="flat">
              <a:solidFill>
                <a:srgbClr val="E8793A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E8793A"/>
              </a:solidFill>
              <a:ln w="9525" cap="flat">
                <a:solidFill>
                  <a:srgbClr val="E8793A"/>
                </a:solidFill>
                <a:prstDash val="solid"/>
                <a:round/>
              </a:ln>
              <a:effectLst/>
            </c:spPr>
          </c:marker>
          <c:cat>
            <c:strRef>
              <c:f>Sheet1!$A$2:$A$25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Sheet1!$C$2:$C$25</c:f>
              <c:numCache>
                <c:formatCode>General</c:formatCode>
                <c:ptCount val="24"/>
                <c:pt idx="0">
                  <c:v>1.5</c:v>
                </c:pt>
                <c:pt idx="1">
                  <c:v>0.9</c:v>
                </c:pt>
                <c:pt idx="2">
                  <c:v>0.5</c:v>
                </c:pt>
                <c:pt idx="3">
                  <c:v>0.3</c:v>
                </c:pt>
                <c:pt idx="4">
                  <c:v>0.4</c:v>
                </c:pt>
                <c:pt idx="5">
                  <c:v>0.8</c:v>
                </c:pt>
                <c:pt idx="6">
                  <c:v>1.8</c:v>
                </c:pt>
                <c:pt idx="7">
                  <c:v>3.2</c:v>
                </c:pt>
                <c:pt idx="8">
                  <c:v>4.4000000000000004</c:v>
                </c:pt>
                <c:pt idx="9">
                  <c:v>3.3</c:v>
                </c:pt>
                <c:pt idx="10">
                  <c:v>3.3</c:v>
                </c:pt>
                <c:pt idx="11">
                  <c:v>4.2</c:v>
                </c:pt>
                <c:pt idx="12">
                  <c:v>5.0999999999999996</c:v>
                </c:pt>
                <c:pt idx="13">
                  <c:v>5.5</c:v>
                </c:pt>
                <c:pt idx="14">
                  <c:v>5.7</c:v>
                </c:pt>
                <c:pt idx="15">
                  <c:v>6.8</c:v>
                </c:pt>
                <c:pt idx="16">
                  <c:v>8.9</c:v>
                </c:pt>
                <c:pt idx="17">
                  <c:v>10.8</c:v>
                </c:pt>
                <c:pt idx="18">
                  <c:v>9.4</c:v>
                </c:pt>
                <c:pt idx="19">
                  <c:v>7</c:v>
                </c:pt>
                <c:pt idx="20">
                  <c:v>5.2</c:v>
                </c:pt>
                <c:pt idx="21">
                  <c:v>4.5</c:v>
                </c:pt>
                <c:pt idx="22">
                  <c:v>3.7</c:v>
                </c:pt>
                <c:pt idx="23">
                  <c:v>2.6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B3B-4B6A-BBAD-B0BC82F853A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77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4"/>
          <c:min val="0"/>
        </c:scaling>
        <c:delete val="0"/>
        <c:axPos val="l"/>
        <c:majorGridlines>
          <c:spPr>
            <a:ln w="9525" cap="flat">
              <a:solidFill>
                <a:srgbClr val="E3E8EA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77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F2A33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1"/>
  <c:style val="2"/>
  <c:chart>
    <c:title>
      <c:tx>
        <c:rich>
          <a:bodyPr/>
          <a:lstStyle/>
          <a:p>
            <a:pPr>
              <a:defRPr sz="1600" b="0" i="0" u="none" strike="noStrike">
                <a:solidFill>
                  <a:srgbClr val="1F2A33"/>
                </a:solidFill>
                <a:latin typeface="+mn-lt"/>
              </a:defRPr>
            </a:pPr>
            <a:r>
              <a:rPr lang="en-US" sz="1600" b="0" i="0" u="none" strike="noStrike">
                <a:solidFill>
                  <a:srgbClr val="1F2A33"/>
                </a:solidFill>
                <a:latin typeface="+mn-lt"/>
              </a:rPr>
              <a:t>Weekends (Sat–Sun), share by hour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Members</c:v>
                </c:pt>
              </c:strCache>
            </c:strRef>
          </c:tx>
          <c:spPr>
            <a:ln w="38100" cap="flat">
              <a:solidFill>
                <a:srgbClr val="1B7F8C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1B7F8C"/>
              </a:solidFill>
              <a:ln w="9525" cap="flat">
                <a:solidFill>
                  <a:srgbClr val="1B7F8C"/>
                </a:solidFill>
                <a:prstDash val="solid"/>
                <a:round/>
              </a:ln>
              <a:effectLst/>
            </c:spPr>
          </c:marker>
          <c:cat>
            <c:strRef>
              <c:f>Sheet1!$A$2:$A$25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2.2000000000000002</c:v>
                </c:pt>
                <c:pt idx="1">
                  <c:v>1.5</c:v>
                </c:pt>
                <c:pt idx="2">
                  <c:v>0.9</c:v>
                </c:pt>
                <c:pt idx="3">
                  <c:v>0.5</c:v>
                </c:pt>
                <c:pt idx="4">
                  <c:v>0.3</c:v>
                </c:pt>
                <c:pt idx="5">
                  <c:v>0.5</c:v>
                </c:pt>
                <c:pt idx="6">
                  <c:v>1.1000000000000001</c:v>
                </c:pt>
                <c:pt idx="7">
                  <c:v>1.8</c:v>
                </c:pt>
                <c:pt idx="8">
                  <c:v>3.3</c:v>
                </c:pt>
                <c:pt idx="9">
                  <c:v>4.9000000000000004</c:v>
                </c:pt>
                <c:pt idx="10">
                  <c:v>6.3</c:v>
                </c:pt>
                <c:pt idx="11">
                  <c:v>7.2</c:v>
                </c:pt>
                <c:pt idx="12">
                  <c:v>7.8</c:v>
                </c:pt>
                <c:pt idx="13">
                  <c:v>7.8</c:v>
                </c:pt>
                <c:pt idx="14">
                  <c:v>7.7</c:v>
                </c:pt>
                <c:pt idx="15">
                  <c:v>7.8</c:v>
                </c:pt>
                <c:pt idx="16">
                  <c:v>7.8</c:v>
                </c:pt>
                <c:pt idx="17">
                  <c:v>7.3</c:v>
                </c:pt>
                <c:pt idx="18">
                  <c:v>6.7</c:v>
                </c:pt>
                <c:pt idx="19">
                  <c:v>5.0999999999999996</c:v>
                </c:pt>
                <c:pt idx="20">
                  <c:v>3.7</c:v>
                </c:pt>
                <c:pt idx="21">
                  <c:v>3.1</c:v>
                </c:pt>
                <c:pt idx="22">
                  <c:v>2.7</c:v>
                </c:pt>
                <c:pt idx="23">
                  <c:v>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AE2-460B-88F2-26C3D3FC797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Casual</c:v>
                </c:pt>
              </c:strCache>
            </c:strRef>
          </c:tx>
          <c:spPr>
            <a:ln w="38100" cap="flat">
              <a:solidFill>
                <a:srgbClr val="E8793A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E8793A"/>
              </a:solidFill>
              <a:ln w="9525" cap="flat">
                <a:solidFill>
                  <a:srgbClr val="E8793A"/>
                </a:solidFill>
                <a:prstDash val="solid"/>
                <a:round/>
              </a:ln>
              <a:effectLst/>
            </c:spPr>
          </c:marker>
          <c:cat>
            <c:strRef>
              <c:f>Sheet1!$A$2:$A$25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Sheet1!$C$2:$C$25</c:f>
              <c:numCache>
                <c:formatCode>General</c:formatCode>
                <c:ptCount val="24"/>
                <c:pt idx="0">
                  <c:v>3.3</c:v>
                </c:pt>
                <c:pt idx="1">
                  <c:v>2.2999999999999998</c:v>
                </c:pt>
                <c:pt idx="2">
                  <c:v>1.5</c:v>
                </c:pt>
                <c:pt idx="3">
                  <c:v>0.9</c:v>
                </c:pt>
                <c:pt idx="4">
                  <c:v>0.5</c:v>
                </c:pt>
                <c:pt idx="5">
                  <c:v>0.5</c:v>
                </c:pt>
                <c:pt idx="6">
                  <c:v>0.7</c:v>
                </c:pt>
                <c:pt idx="7">
                  <c:v>1.2</c:v>
                </c:pt>
                <c:pt idx="8">
                  <c:v>2.2000000000000002</c:v>
                </c:pt>
                <c:pt idx="9">
                  <c:v>3.6</c:v>
                </c:pt>
                <c:pt idx="10">
                  <c:v>5.3</c:v>
                </c:pt>
                <c:pt idx="11">
                  <c:v>6.7</c:v>
                </c:pt>
                <c:pt idx="12">
                  <c:v>7.9</c:v>
                </c:pt>
                <c:pt idx="13">
                  <c:v>8.1999999999999993</c:v>
                </c:pt>
                <c:pt idx="14">
                  <c:v>8.3000000000000007</c:v>
                </c:pt>
                <c:pt idx="15">
                  <c:v>8.5</c:v>
                </c:pt>
                <c:pt idx="16">
                  <c:v>8.1999999999999993</c:v>
                </c:pt>
                <c:pt idx="17">
                  <c:v>7.2</c:v>
                </c:pt>
                <c:pt idx="18">
                  <c:v>6.1</c:v>
                </c:pt>
                <c:pt idx="19">
                  <c:v>4.7</c:v>
                </c:pt>
                <c:pt idx="20">
                  <c:v>3.5</c:v>
                </c:pt>
                <c:pt idx="21">
                  <c:v>3.1</c:v>
                </c:pt>
                <c:pt idx="22">
                  <c:v>3.1</c:v>
                </c:pt>
                <c:pt idx="23">
                  <c:v>2.4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AE2-460B-88F2-26C3D3FC797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77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4"/>
          <c:min val="0"/>
        </c:scaling>
        <c:delete val="0"/>
        <c:axPos val="l"/>
        <c:majorGridlines>
          <c:spPr>
            <a:ln w="9525" cap="flat">
              <a:solidFill>
                <a:srgbClr val="E3E8EA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77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F2A33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Members</c:v>
                </c:pt>
              </c:strCache>
            </c:strRef>
          </c:tx>
          <c:spPr>
            <a:solidFill>
              <a:srgbClr val="1B7F8C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F2A33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Classic bike</c:v>
                </c:pt>
                <c:pt idx="1">
                  <c:v>Electric bike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9.17</c:v>
                </c:pt>
                <c:pt idx="1">
                  <c:v>8.5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E13-4A8E-B529-159A010714B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Casual</c:v>
                </c:pt>
              </c:strCache>
            </c:strRef>
          </c:tx>
          <c:spPr>
            <a:solidFill>
              <a:srgbClr val="E8793A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F2A33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Classic bike</c:v>
                </c:pt>
                <c:pt idx="1">
                  <c:v>Electric bike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15.55</c:v>
                </c:pt>
                <c:pt idx="1">
                  <c:v>10.08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E13-4A8E-B529-159A010714B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7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77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0"/>
          <c:min val="0"/>
        </c:scaling>
        <c:delete val="0"/>
        <c:axPos val="l"/>
        <c:majorGridlines>
          <c:spPr>
            <a:ln w="9525" cap="flat">
              <a:solidFill>
                <a:srgbClr val="E3E8EA"/>
              </a:solidFill>
              <a:prstDash val="solid"/>
              <a:round/>
            </a:ln>
          </c:spPr>
        </c:majorGridlines>
        <c:numFmt formatCode="0&quot; min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77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5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F2A33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Members</c:v>
                </c:pt>
              </c:strCache>
            </c:strRef>
          </c:tx>
          <c:spPr>
            <a:solidFill>
              <a:srgbClr val="1B7F8C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F2A33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Classic bike</c:v>
                </c:pt>
                <c:pt idx="1">
                  <c:v>Electric bike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31.7</c:v>
                </c:pt>
                <c:pt idx="1">
                  <c:v>68.3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9D5-4FA6-88AF-F85EAC13445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Casual</c:v>
                </c:pt>
              </c:strCache>
            </c:strRef>
          </c:tx>
          <c:spPr>
            <a:solidFill>
              <a:srgbClr val="E8793A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F2A33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Classic bike</c:v>
                </c:pt>
                <c:pt idx="1">
                  <c:v>Electric bike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25.8</c:v>
                </c:pt>
                <c:pt idx="1">
                  <c:v>74.2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9D5-4FA6-88AF-F85EAC13445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7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77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9525" cap="flat">
              <a:solidFill>
                <a:srgbClr val="E3E8EA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77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F2A33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Casual trips</c:v>
                </c:pt>
              </c:strCache>
            </c:strRef>
          </c:tx>
          <c:spPr>
            <a:solidFill>
              <a:srgbClr val="E8793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F2A33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Navy Pier</c:v>
                </c:pt>
                <c:pt idx="1">
                  <c:v>DuSable Lake Shore Dr &amp; Monroe St</c:v>
                </c:pt>
                <c:pt idx="2">
                  <c:v>Michigan Ave &amp; Oak St</c:v>
                </c:pt>
                <c:pt idx="3">
                  <c:v>DuSable Lake Shore Dr &amp; North Blvd</c:v>
                </c:pt>
                <c:pt idx="4">
                  <c:v>Millennium Park</c:v>
                </c:pt>
                <c:pt idx="5">
                  <c:v>Shedd Aquarium</c:v>
                </c:pt>
                <c:pt idx="6">
                  <c:v>Theater on the Lake</c:v>
                </c:pt>
                <c:pt idx="7">
                  <c:v>Dusable Harbor</c:v>
                </c:pt>
                <c:pt idx="8">
                  <c:v>Field Museum</c:v>
                </c:pt>
                <c:pt idx="9">
                  <c:v>Adler Planetarium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49562</c:v>
                </c:pt>
                <c:pt idx="1">
                  <c:v>28570</c:v>
                </c:pt>
                <c:pt idx="2">
                  <c:v>20662</c:v>
                </c:pt>
                <c:pt idx="3">
                  <c:v>16932</c:v>
                </c:pt>
                <c:pt idx="4">
                  <c:v>16837</c:v>
                </c:pt>
                <c:pt idx="5">
                  <c:v>16059</c:v>
                </c:pt>
                <c:pt idx="6">
                  <c:v>14757</c:v>
                </c:pt>
                <c:pt idx="7">
                  <c:v>13630</c:v>
                </c:pt>
                <c:pt idx="8">
                  <c:v>10024</c:v>
                </c:pt>
                <c:pt idx="9">
                  <c:v>9994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6EA-4DB1-ABB8-53CA4D03229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77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8000"/>
          <c:min val="0"/>
        </c:scaling>
        <c:delete val="1"/>
        <c:axPos val="t"/>
        <c:majorGridlines>
          <c:spPr>
            <a:ln w="9525" cap="flat">
              <a:solidFill>
                <a:srgbClr val="E3E8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14108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Opening: state the question and the one-sentence answer. What we measure is the share of trips, not the share of users; say this up front.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headline findings. Details on the next slides; limitations on slide 11.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Business task and data source. Cyclistic is fictional; the data comes from a real bike-share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Cleaning summary. A total of 164,006 rows (about 2.66%) were removed. The duration filter did not affect the two groups equally; keep this as a limitation.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Casual usage is far more seasonal than member usage. There is no weather data: say "higher in warm months", not "because of temperature".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Members skew to weekdays, casual riders to weekends. The gap comes from Saturday and Sunday.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Weekends act as a control group: the peaks are specific to weekdays. Do not claim "alternative to public transit"; the data shows when, not why.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Casual classic-bike trips: mean 28.6 min but median 15.6 min, so a heavy tail of long trips. The data does not say why.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Bike type does not explain the duration gap: it exists on both types. The reason for the rise (rider preference or fleet change) is unknown.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round-trip hypothesis (written beforehand, threshold 1.5×) was supported. The station list is an exploratory observation.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Stating the limits openly builds credibility.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Draft recommendations. Each is tied to a finding and should be tested with a pilot: "test", not "must target".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Transparency: state AI use openly. Edit this line in your own words if you prefer.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2011680"/>
            <a:ext cx="1069848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44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4297680"/>
            <a:ext cx="106984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marL="0" indent="0" algn="l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4415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6"/>
                </a:solidFill>
              </a:rPr>
              <a:t>Cyclistic case study · Share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4415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3"/>
                </a:solidFill>
              </a:rPr>
              <a:t>Cyclistic case study · Share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chart" Target="../charts/char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5.pn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icycle circle"/>
          <p:cNvSpPr/>
          <p:nvPr/>
        </p:nvSpPr>
        <p:spPr>
          <a:xfrm>
            <a:off x="731520" y="822960"/>
            <a:ext cx="914400" cy="9144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3" name="Bicycle icon" descr="Bicycl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" y="1042416"/>
            <a:ext cx="475488" cy="475488"/>
          </a:xfrm>
          <a:prstGeom prst="rect">
            <a:avLst/>
          </a:prstGeom>
        </p:spPr>
      </p:pic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2011680"/>
            <a:ext cx="10698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400" b="1" dirty="0">
                <a:solidFill>
                  <a:schemeClr val="bg1"/>
                </a:solidFill>
              </a:rPr>
              <a:t>How do annual members and casual riders use Cyclistic bikes differently?</a:t>
            </a:r>
            <a:endParaRPr lang="en-US" sz="4400" dirty="0"/>
          </a:p>
        </p:txBody>
      </p:sp>
      <p:sp>
        <p:nvSpPr>
          <p:cNvPr id="5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429768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chemeClr val="bg2"/>
                </a:solidFill>
              </a:rPr>
              <a:t>Cyclistic case study · Share phase</a:t>
            </a: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chemeClr val="bg2"/>
                </a:solidFill>
              </a:rPr>
              <a:t>October 2025 – September 2026 · 6.0 million trips · Divvy public data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bg1"/>
                </a:solidFill>
              </a:rPr>
              <a:t>Casual trips concentrate in summer, on weekends and at a few stations</a:t>
            </a:r>
            <a:endParaRPr lang="en-US" sz="3600" dirty="0"/>
          </a:p>
        </p:txBody>
      </p:sp>
      <p:sp>
        <p:nvSpPr>
          <p:cNvPr id="3" name="Summary card 1"/>
          <p:cNvSpPr/>
          <p:nvPr/>
        </p:nvSpPr>
        <p:spPr>
          <a:xfrm>
            <a:off x="548640" y="1828800"/>
            <a:ext cx="2560320" cy="3566160"/>
          </a:xfrm>
          <a:prstGeom prst="roundRect">
            <a:avLst>
              <a:gd name="adj" fmla="val 3571"/>
            </a:avLst>
          </a:prstGeom>
          <a:solidFill>
            <a:schemeClr val="bg1"/>
          </a:solidFill>
          <a:ln/>
        </p:spPr>
      </p:sp>
      <p:sp>
        <p:nvSpPr>
          <p:cNvPr id="4" name="Summary icon 1 circle"/>
          <p:cNvSpPr/>
          <p:nvPr/>
        </p:nvSpPr>
        <p:spPr>
          <a:xfrm>
            <a:off x="822960" y="210312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5" name="Summary icon 1 icon" descr="Summary ico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579" y="2256739"/>
            <a:ext cx="332842" cy="332842"/>
          </a:xfrm>
          <a:prstGeom prst="rect">
            <a:avLst/>
          </a:prstGeom>
        </p:spPr>
      </p:pic>
      <p:sp>
        <p:nvSpPr>
          <p:cNvPr id="6" name="Summary number 1"/>
          <p:cNvSpPr txBox="1"/>
          <p:nvPr/>
        </p:nvSpPr>
        <p:spPr>
          <a:xfrm>
            <a:off x="822960" y="297180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40.8%</a:t>
            </a:r>
            <a:endParaRPr lang="en-US" sz="4400" dirty="0"/>
          </a:p>
        </p:txBody>
      </p:sp>
      <p:sp>
        <p:nvSpPr>
          <p:cNvPr id="7" name="Summary label 1"/>
          <p:cNvSpPr txBox="1"/>
          <p:nvPr/>
        </p:nvSpPr>
        <p:spPr>
          <a:xfrm>
            <a:off x="822960" y="384048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casual share of trips in July; 17.9% in January</a:t>
            </a:r>
            <a:endParaRPr lang="en-US" sz="1600" dirty="0"/>
          </a:p>
        </p:txBody>
      </p:sp>
      <p:sp>
        <p:nvSpPr>
          <p:cNvPr id="8" name="Summary card 2"/>
          <p:cNvSpPr/>
          <p:nvPr/>
        </p:nvSpPr>
        <p:spPr>
          <a:xfrm>
            <a:off x="3393338" y="1828800"/>
            <a:ext cx="2560320" cy="3566160"/>
          </a:xfrm>
          <a:prstGeom prst="roundRect">
            <a:avLst>
              <a:gd name="adj" fmla="val 3571"/>
            </a:avLst>
          </a:prstGeom>
          <a:solidFill>
            <a:schemeClr val="bg1"/>
          </a:solidFill>
          <a:ln/>
        </p:spPr>
      </p:sp>
      <p:sp>
        <p:nvSpPr>
          <p:cNvPr id="9" name="Summary icon 2 circle"/>
          <p:cNvSpPr/>
          <p:nvPr/>
        </p:nvSpPr>
        <p:spPr>
          <a:xfrm>
            <a:off x="3667658" y="210312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0" name="Summary icon 2 icon" descr="Summary ic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1278" y="2256739"/>
            <a:ext cx="332842" cy="332842"/>
          </a:xfrm>
          <a:prstGeom prst="rect">
            <a:avLst/>
          </a:prstGeom>
        </p:spPr>
      </p:pic>
      <p:sp>
        <p:nvSpPr>
          <p:cNvPr id="11" name="Summary number 2"/>
          <p:cNvSpPr txBox="1"/>
          <p:nvPr/>
        </p:nvSpPr>
        <p:spPr>
          <a:xfrm>
            <a:off x="3667658" y="297180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52.9%</a:t>
            </a:r>
            <a:endParaRPr lang="en-US" sz="4400" dirty="0"/>
          </a:p>
        </p:txBody>
      </p:sp>
      <p:sp>
        <p:nvSpPr>
          <p:cNvPr id="12" name="Summary label 2"/>
          <p:cNvSpPr txBox="1"/>
          <p:nvPr/>
        </p:nvSpPr>
        <p:spPr>
          <a:xfrm>
            <a:off x="3667658" y="384048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of casual trips happen Friday–Sunday (members: 38.0%)</a:t>
            </a:r>
            <a:endParaRPr lang="en-US" sz="1600" dirty="0"/>
          </a:p>
        </p:txBody>
      </p:sp>
      <p:sp>
        <p:nvSpPr>
          <p:cNvPr id="13" name="Summary card 3"/>
          <p:cNvSpPr/>
          <p:nvPr/>
        </p:nvSpPr>
        <p:spPr>
          <a:xfrm>
            <a:off x="6238037" y="1828800"/>
            <a:ext cx="2560320" cy="3566160"/>
          </a:xfrm>
          <a:prstGeom prst="roundRect">
            <a:avLst>
              <a:gd name="adj" fmla="val 3571"/>
            </a:avLst>
          </a:prstGeom>
          <a:solidFill>
            <a:schemeClr val="bg1"/>
          </a:solidFill>
          <a:ln/>
        </p:spPr>
      </p:sp>
      <p:sp>
        <p:nvSpPr>
          <p:cNvPr id="14" name="Summary icon 3 circle"/>
          <p:cNvSpPr/>
          <p:nvPr/>
        </p:nvSpPr>
        <p:spPr>
          <a:xfrm>
            <a:off x="6512357" y="210312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5" name="Summary icon 3 icon" descr="Summary icon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5976" y="2256739"/>
            <a:ext cx="332842" cy="332842"/>
          </a:xfrm>
          <a:prstGeom prst="rect">
            <a:avLst/>
          </a:prstGeom>
        </p:spPr>
      </p:pic>
      <p:sp>
        <p:nvSpPr>
          <p:cNvPr id="16" name="Summary number 3"/>
          <p:cNvSpPr txBox="1"/>
          <p:nvPr/>
        </p:nvSpPr>
        <p:spPr>
          <a:xfrm>
            <a:off x="6512357" y="297180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+2.5</a:t>
            </a:r>
            <a:endParaRPr lang="en-US" sz="4400" dirty="0"/>
          </a:p>
        </p:txBody>
      </p:sp>
      <p:sp>
        <p:nvSpPr>
          <p:cNvPr id="17" name="Summary label 3"/>
          <p:cNvSpPr txBox="1"/>
          <p:nvPr/>
        </p:nvSpPr>
        <p:spPr>
          <a:xfrm>
            <a:off x="6512357" y="384048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minutes longer median trip for casual riders (11.1 vs 8.7 min)</a:t>
            </a:r>
            <a:endParaRPr lang="en-US" sz="1600" dirty="0"/>
          </a:p>
        </p:txBody>
      </p:sp>
      <p:sp>
        <p:nvSpPr>
          <p:cNvPr id="18" name="Summary card 4"/>
          <p:cNvSpPr/>
          <p:nvPr/>
        </p:nvSpPr>
        <p:spPr>
          <a:xfrm>
            <a:off x="9082735" y="1828800"/>
            <a:ext cx="2560320" cy="3566160"/>
          </a:xfrm>
          <a:prstGeom prst="roundRect">
            <a:avLst>
              <a:gd name="adj" fmla="val 3571"/>
            </a:avLst>
          </a:prstGeom>
          <a:solidFill>
            <a:schemeClr val="bg1"/>
          </a:solidFill>
          <a:ln/>
        </p:spPr>
      </p:sp>
      <p:sp>
        <p:nvSpPr>
          <p:cNvPr id="19" name="Summary icon 4 circle"/>
          <p:cNvSpPr/>
          <p:nvPr/>
        </p:nvSpPr>
        <p:spPr>
          <a:xfrm>
            <a:off x="9357055" y="210312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0" name="Summary icon 4 icon" descr="Summary icon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10674" y="2256739"/>
            <a:ext cx="332842" cy="332842"/>
          </a:xfrm>
          <a:prstGeom prst="rect">
            <a:avLst/>
          </a:prstGeom>
        </p:spPr>
      </p:pic>
      <p:sp>
        <p:nvSpPr>
          <p:cNvPr id="21" name="Summary number 4"/>
          <p:cNvSpPr txBox="1"/>
          <p:nvPr/>
        </p:nvSpPr>
        <p:spPr>
          <a:xfrm>
            <a:off x="9357055" y="297180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3.4×</a:t>
            </a:r>
            <a:endParaRPr lang="en-US" sz="4400" dirty="0"/>
          </a:p>
        </p:txBody>
      </p:sp>
      <p:sp>
        <p:nvSpPr>
          <p:cNvPr id="22" name="Summary label 4"/>
          <p:cNvSpPr txBox="1"/>
          <p:nvPr/>
        </p:nvSpPr>
        <p:spPr>
          <a:xfrm>
            <a:off x="9357055" y="384048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round-trip share of casual trips vs. member trips</a:t>
            </a:r>
            <a:endParaRPr lang="en-US" sz="1600" dirty="0"/>
          </a:p>
        </p:txBody>
      </p:sp>
      <p:sp>
        <p:nvSpPr>
          <p:cNvPr id="23" name="Summary footnote"/>
          <p:cNvSpPr txBox="1"/>
          <p:nvPr/>
        </p:nvSpPr>
        <p:spPr>
          <a:xfrm>
            <a:off x="548640" y="57150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Shares are shares of trips, not of users. Clean data: 6,007,779 trips (10/2025 – 09/2026).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Task: find the differences that could convert casual riders to members</a:t>
            </a:r>
            <a:endParaRPr lang="en-US" sz="3600" dirty="0"/>
          </a:p>
        </p:txBody>
      </p:sp>
      <p:sp>
        <p:nvSpPr>
          <p:cNvPr id="3" name="Business task card"/>
          <p:cNvSpPr/>
          <p:nvPr/>
        </p:nvSpPr>
        <p:spPr>
          <a:xfrm>
            <a:off x="548640" y="1828800"/>
            <a:ext cx="5120640" cy="4206240"/>
          </a:xfrm>
          <a:prstGeom prst="roundRect">
            <a:avLst>
              <a:gd name="adj" fmla="val 2174"/>
            </a:avLst>
          </a:prstGeom>
          <a:solidFill>
            <a:schemeClr val="bg2"/>
          </a:solidFill>
          <a:ln/>
        </p:spPr>
      </p:sp>
      <p:sp>
        <p:nvSpPr>
          <p:cNvPr id="4" name="Business task heading"/>
          <p:cNvSpPr txBox="1"/>
          <p:nvPr/>
        </p:nvSpPr>
        <p:spPr>
          <a:xfrm>
            <a:off x="914400" y="210312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task</a:t>
            </a:r>
            <a:endParaRPr lang="en-US" sz="2200" dirty="0"/>
          </a:p>
        </p:txBody>
      </p:sp>
      <p:sp>
        <p:nvSpPr>
          <p:cNvPr id="5" name="Business task text"/>
          <p:cNvSpPr txBox="1"/>
          <p:nvPr/>
        </p:nvSpPr>
        <p:spPr>
          <a:xfrm>
            <a:off x="914400" y="2651760"/>
            <a:ext cx="4389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Help the marketing team design strategies to convert casual riders into annual members by showing how members and casual riders use the bikes differently.</a:t>
            </a:r>
            <a:endParaRPr lang="en-US" sz="1800" dirty="0"/>
          </a:p>
        </p:txBody>
      </p:sp>
      <p:sp>
        <p:nvSpPr>
          <p:cNvPr id="6" name="Short answer heading"/>
          <p:cNvSpPr txBox="1"/>
          <p:nvPr/>
        </p:nvSpPr>
        <p:spPr>
          <a:xfrm>
            <a:off x="914400" y="434340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Short answer</a:t>
            </a:r>
            <a:endParaRPr lang="en-US" sz="2200" dirty="0"/>
          </a:p>
        </p:txBody>
      </p:sp>
      <p:sp>
        <p:nvSpPr>
          <p:cNvPr id="7" name="Short answer text"/>
          <p:cNvSpPr txBox="1"/>
          <p:nvPr/>
        </p:nvSpPr>
        <p:spPr>
          <a:xfrm>
            <a:off x="914400" y="4800600"/>
            <a:ext cx="4389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Casual trips concentrate in summer, on weekends and at a few stations; member trips peak on weekday mornings and evenings.</a:t>
            </a:r>
            <a:endParaRPr lang="en-US" sz="1600" dirty="0"/>
          </a:p>
        </p:txBody>
      </p:sp>
      <p:sp>
        <p:nvSpPr>
          <p:cNvPr id="8" name="Row icon 1 circle"/>
          <p:cNvSpPr/>
          <p:nvPr/>
        </p:nvSpPr>
        <p:spPr>
          <a:xfrm>
            <a:off x="6309360" y="192024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9" name="Row icon 1 icon" descr="Row ico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4925" y="2095805"/>
            <a:ext cx="380390" cy="380390"/>
          </a:xfrm>
          <a:prstGeom prst="rect">
            <a:avLst/>
          </a:prstGeom>
        </p:spPr>
      </p:pic>
      <p:sp>
        <p:nvSpPr>
          <p:cNvPr id="10" name="Row heading 1"/>
          <p:cNvSpPr txBox="1"/>
          <p:nvPr/>
        </p:nvSpPr>
        <p:spPr>
          <a:xfrm>
            <a:off x="7315200" y="18288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Data</a:t>
            </a:r>
            <a:endParaRPr lang="en-US" sz="2000" dirty="0"/>
          </a:p>
        </p:txBody>
      </p:sp>
      <p:sp>
        <p:nvSpPr>
          <p:cNvPr id="11" name="Row text 1"/>
          <p:cNvSpPr txBox="1"/>
          <p:nvPr/>
        </p:nvSpPr>
        <p:spPr>
          <a:xfrm>
            <a:off x="7315200" y="224028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Divvy public trip data (Cyclistic is a fictional company)</a:t>
            </a:r>
            <a:endParaRPr lang="en-US" sz="1600" dirty="0"/>
          </a:p>
        </p:txBody>
      </p:sp>
      <p:sp>
        <p:nvSpPr>
          <p:cNvPr id="12" name="Row icon 2 circle"/>
          <p:cNvSpPr/>
          <p:nvPr/>
        </p:nvSpPr>
        <p:spPr>
          <a:xfrm>
            <a:off x="6309360" y="338328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Row icon 2 icon" descr="Row ic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4925" y="3558845"/>
            <a:ext cx="380390" cy="380390"/>
          </a:xfrm>
          <a:prstGeom prst="rect">
            <a:avLst/>
          </a:prstGeom>
        </p:spPr>
      </p:pic>
      <p:sp>
        <p:nvSpPr>
          <p:cNvPr id="14" name="Row heading 2"/>
          <p:cNvSpPr txBox="1"/>
          <p:nvPr/>
        </p:nvSpPr>
        <p:spPr>
          <a:xfrm>
            <a:off x="7315200" y="329184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Period</a:t>
            </a:r>
            <a:endParaRPr lang="en-US" sz="2000" dirty="0"/>
          </a:p>
        </p:txBody>
      </p:sp>
      <p:sp>
        <p:nvSpPr>
          <p:cNvPr id="15" name="Row text 2"/>
          <p:cNvSpPr txBox="1"/>
          <p:nvPr/>
        </p:nvSpPr>
        <p:spPr>
          <a:xfrm>
            <a:off x="7315200" y="370332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October 2025 – September 2026, 12 months</a:t>
            </a:r>
            <a:endParaRPr lang="en-US" sz="1600" dirty="0"/>
          </a:p>
        </p:txBody>
      </p:sp>
      <p:sp>
        <p:nvSpPr>
          <p:cNvPr id="16" name="Row icon 3 circle"/>
          <p:cNvSpPr/>
          <p:nvPr/>
        </p:nvSpPr>
        <p:spPr>
          <a:xfrm>
            <a:off x="6309360" y="484632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Row icon 3 icon" descr="Row icon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4925" y="5021885"/>
            <a:ext cx="380390" cy="380390"/>
          </a:xfrm>
          <a:prstGeom prst="rect">
            <a:avLst/>
          </a:prstGeom>
        </p:spPr>
      </p:pic>
      <p:sp>
        <p:nvSpPr>
          <p:cNvPr id="18" name="Row heading 3"/>
          <p:cNvSpPr txBox="1"/>
          <p:nvPr/>
        </p:nvSpPr>
        <p:spPr>
          <a:xfrm>
            <a:off x="7315200" y="475488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Unit</a:t>
            </a:r>
            <a:endParaRPr lang="en-US" sz="2000" dirty="0"/>
          </a:p>
        </p:txBody>
      </p:sp>
      <p:sp>
        <p:nvSpPr>
          <p:cNvPr id="19" name="Row text 3"/>
          <p:cNvSpPr txBox="1"/>
          <p:nvPr/>
        </p:nvSpPr>
        <p:spPr>
          <a:xfrm>
            <a:off x="7315200" y="516636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Trips. No user IDs, so shares are shares of trips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From 6.17 million rows to 6.01 million rows of clean data</a:t>
            </a:r>
            <a:endParaRPr lang="en-US" sz="3600" dirty="0"/>
          </a:p>
        </p:txBody>
      </p:sp>
      <p:sp>
        <p:nvSpPr>
          <p:cNvPr id="3" name="Card 6,171,785"/>
          <p:cNvSpPr/>
          <p:nvPr/>
        </p:nvSpPr>
        <p:spPr>
          <a:xfrm>
            <a:off x="457200" y="1783080"/>
            <a:ext cx="2103120" cy="1645920"/>
          </a:xfrm>
          <a:prstGeom prst="roundRect">
            <a:avLst>
              <a:gd name="adj" fmla="val 5556"/>
            </a:avLst>
          </a:prstGeom>
          <a:solidFill>
            <a:schemeClr val="bg2"/>
          </a:solidFill>
          <a:ln/>
        </p:spPr>
      </p:sp>
      <p:sp>
        <p:nvSpPr>
          <p:cNvPr id="4" name="Number 6,171,785"/>
          <p:cNvSpPr txBox="1"/>
          <p:nvPr/>
        </p:nvSpPr>
        <p:spPr>
          <a:xfrm>
            <a:off x="662939" y="1939544"/>
            <a:ext cx="1783081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6,171,785</a:t>
            </a:r>
            <a:endParaRPr lang="en-US" sz="2800" dirty="0"/>
          </a:p>
        </p:txBody>
      </p:sp>
      <p:sp>
        <p:nvSpPr>
          <p:cNvPr id="5" name="Label 6,171,785"/>
          <p:cNvSpPr txBox="1"/>
          <p:nvPr/>
        </p:nvSpPr>
        <p:spPr>
          <a:xfrm>
            <a:off x="777240" y="2500884"/>
            <a:ext cx="1554480" cy="818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raw data (12 monthly tables)</a:t>
            </a:r>
            <a:endParaRPr lang="en-US" sz="1400" dirty="0"/>
          </a:p>
        </p:txBody>
      </p:sp>
      <p:sp>
        <p:nvSpPr>
          <p:cNvPr id="6" name="Arrow 1"/>
          <p:cNvSpPr/>
          <p:nvPr/>
        </p:nvSpPr>
        <p:spPr>
          <a:xfrm>
            <a:off x="2596896" y="2468880"/>
            <a:ext cx="185852" cy="274320"/>
          </a:xfrm>
          <a:prstGeom prst="rightArrow">
            <a:avLst/>
          </a:prstGeom>
          <a:solidFill>
            <a:schemeClr val="accent3"/>
          </a:solidFill>
          <a:ln/>
        </p:spPr>
      </p:sp>
      <p:sp>
        <p:nvSpPr>
          <p:cNvPr id="7" name="Card −71"/>
          <p:cNvSpPr/>
          <p:nvPr/>
        </p:nvSpPr>
        <p:spPr>
          <a:xfrm>
            <a:off x="2819324" y="1783080"/>
            <a:ext cx="2011680" cy="1645920"/>
          </a:xfrm>
          <a:prstGeom prst="roundRect">
            <a:avLst>
              <a:gd name="adj" fmla="val 5556"/>
            </a:avLst>
          </a:prstGeom>
          <a:solidFill>
            <a:schemeClr val="bg2"/>
          </a:solidFill>
          <a:ln/>
        </p:spPr>
      </p:sp>
      <p:sp>
        <p:nvSpPr>
          <p:cNvPr id="8" name="Number −71"/>
          <p:cNvSpPr txBox="1"/>
          <p:nvPr/>
        </p:nvSpPr>
        <p:spPr>
          <a:xfrm>
            <a:off x="3047924" y="1947672"/>
            <a:ext cx="155448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−71</a:t>
            </a:r>
            <a:endParaRPr lang="en-US" sz="2800" dirty="0"/>
          </a:p>
        </p:txBody>
      </p:sp>
      <p:sp>
        <p:nvSpPr>
          <p:cNvPr id="9" name="Label −71"/>
          <p:cNvSpPr txBox="1"/>
          <p:nvPr/>
        </p:nvSpPr>
        <p:spPr>
          <a:xfrm>
            <a:off x="3047924" y="2500884"/>
            <a:ext cx="1554480" cy="818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out-of-period rows</a:t>
            </a:r>
            <a:endParaRPr lang="en-US" sz="1400" dirty="0"/>
          </a:p>
        </p:txBody>
      </p:sp>
      <p:sp>
        <p:nvSpPr>
          <p:cNvPr id="10" name="Arrow 2"/>
          <p:cNvSpPr/>
          <p:nvPr/>
        </p:nvSpPr>
        <p:spPr>
          <a:xfrm>
            <a:off x="4867580" y="2468880"/>
            <a:ext cx="185852" cy="274320"/>
          </a:xfrm>
          <a:prstGeom prst="rightArrow">
            <a:avLst/>
          </a:prstGeom>
          <a:solidFill>
            <a:schemeClr val="accent3"/>
          </a:solidFill>
          <a:ln/>
        </p:spPr>
      </p:sp>
      <p:sp>
        <p:nvSpPr>
          <p:cNvPr id="11" name="Card −35"/>
          <p:cNvSpPr/>
          <p:nvPr/>
        </p:nvSpPr>
        <p:spPr>
          <a:xfrm>
            <a:off x="5090008" y="1783080"/>
            <a:ext cx="2011680" cy="1645920"/>
          </a:xfrm>
          <a:prstGeom prst="roundRect">
            <a:avLst>
              <a:gd name="adj" fmla="val 5556"/>
            </a:avLst>
          </a:prstGeom>
          <a:solidFill>
            <a:schemeClr val="bg2"/>
          </a:solidFill>
          <a:ln/>
        </p:spPr>
      </p:sp>
      <p:sp>
        <p:nvSpPr>
          <p:cNvPr id="12" name="Number −35"/>
          <p:cNvSpPr txBox="1"/>
          <p:nvPr/>
        </p:nvSpPr>
        <p:spPr>
          <a:xfrm>
            <a:off x="5318608" y="1947672"/>
            <a:ext cx="155448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−35</a:t>
            </a:r>
            <a:endParaRPr lang="en-US" sz="2800" dirty="0"/>
          </a:p>
        </p:txBody>
      </p:sp>
      <p:sp>
        <p:nvSpPr>
          <p:cNvPr id="13" name="Label −35"/>
          <p:cNvSpPr txBox="1"/>
          <p:nvPr/>
        </p:nvSpPr>
        <p:spPr>
          <a:xfrm>
            <a:off x="5318608" y="2500884"/>
            <a:ext cx="1554480" cy="818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duplicate records</a:t>
            </a:r>
            <a:endParaRPr lang="en-US" sz="1400" dirty="0"/>
          </a:p>
        </p:txBody>
      </p:sp>
      <p:sp>
        <p:nvSpPr>
          <p:cNvPr id="14" name="Arrow 3"/>
          <p:cNvSpPr/>
          <p:nvPr/>
        </p:nvSpPr>
        <p:spPr>
          <a:xfrm>
            <a:off x="7138264" y="2468880"/>
            <a:ext cx="185852" cy="274320"/>
          </a:xfrm>
          <a:prstGeom prst="rightArrow">
            <a:avLst/>
          </a:prstGeom>
          <a:solidFill>
            <a:schemeClr val="accent3"/>
          </a:solidFill>
          <a:ln/>
        </p:spPr>
      </p:sp>
      <p:sp>
        <p:nvSpPr>
          <p:cNvPr id="15" name="Card −163,900"/>
          <p:cNvSpPr/>
          <p:nvPr/>
        </p:nvSpPr>
        <p:spPr>
          <a:xfrm>
            <a:off x="7360691" y="1783080"/>
            <a:ext cx="2011680" cy="1645920"/>
          </a:xfrm>
          <a:prstGeom prst="roundRect">
            <a:avLst>
              <a:gd name="adj" fmla="val 5556"/>
            </a:avLst>
          </a:prstGeom>
          <a:solidFill>
            <a:schemeClr val="bg2"/>
          </a:solidFill>
          <a:ln/>
        </p:spPr>
      </p:sp>
      <p:sp>
        <p:nvSpPr>
          <p:cNvPr id="16" name="Number −163,900"/>
          <p:cNvSpPr txBox="1"/>
          <p:nvPr/>
        </p:nvSpPr>
        <p:spPr>
          <a:xfrm>
            <a:off x="7589291" y="1947672"/>
            <a:ext cx="1639376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−163,900</a:t>
            </a:r>
            <a:endParaRPr lang="en-US" sz="2800" dirty="0"/>
          </a:p>
        </p:txBody>
      </p:sp>
      <p:sp>
        <p:nvSpPr>
          <p:cNvPr id="17" name="Label −163,900"/>
          <p:cNvSpPr txBox="1"/>
          <p:nvPr/>
        </p:nvSpPr>
        <p:spPr>
          <a:xfrm>
            <a:off x="7589291" y="2500884"/>
            <a:ext cx="1554480" cy="818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duration filter (outside 60 s – 24 h)</a:t>
            </a:r>
            <a:endParaRPr lang="en-US" sz="1400" dirty="0"/>
          </a:p>
        </p:txBody>
      </p:sp>
      <p:sp>
        <p:nvSpPr>
          <p:cNvPr id="18" name="Arrow 4"/>
          <p:cNvSpPr/>
          <p:nvPr/>
        </p:nvSpPr>
        <p:spPr>
          <a:xfrm>
            <a:off x="9408947" y="2468880"/>
            <a:ext cx="185852" cy="274320"/>
          </a:xfrm>
          <a:prstGeom prst="rightArrow">
            <a:avLst/>
          </a:prstGeom>
          <a:solidFill>
            <a:schemeClr val="accent3"/>
          </a:solidFill>
          <a:ln/>
        </p:spPr>
      </p:sp>
      <p:sp>
        <p:nvSpPr>
          <p:cNvPr id="19" name="Card 6,007,779"/>
          <p:cNvSpPr/>
          <p:nvPr/>
        </p:nvSpPr>
        <p:spPr>
          <a:xfrm>
            <a:off x="9631375" y="1783080"/>
            <a:ext cx="2011680" cy="1645920"/>
          </a:xfrm>
          <a:prstGeom prst="roundRect">
            <a:avLst>
              <a:gd name="adj" fmla="val 5556"/>
            </a:avLst>
          </a:prstGeom>
          <a:solidFill>
            <a:schemeClr val="bg2"/>
          </a:solidFill>
          <a:ln/>
        </p:spPr>
      </p:sp>
      <p:sp>
        <p:nvSpPr>
          <p:cNvPr id="20" name="Number 6,007,779"/>
          <p:cNvSpPr txBox="1"/>
          <p:nvPr/>
        </p:nvSpPr>
        <p:spPr>
          <a:xfrm>
            <a:off x="9788110" y="1947672"/>
            <a:ext cx="1669322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6,007,779</a:t>
            </a:r>
            <a:endParaRPr lang="en-US" sz="2800" dirty="0"/>
          </a:p>
        </p:txBody>
      </p:sp>
      <p:sp>
        <p:nvSpPr>
          <p:cNvPr id="21" name="Label 6,007,779"/>
          <p:cNvSpPr txBox="1"/>
          <p:nvPr/>
        </p:nvSpPr>
        <p:spPr>
          <a:xfrm>
            <a:off x="9859975" y="2500884"/>
            <a:ext cx="1554480" cy="818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analysis table</a:t>
            </a:r>
            <a:endParaRPr lang="en-US" sz="1400" dirty="0"/>
          </a:p>
        </p:txBody>
      </p:sp>
      <p:sp>
        <p:nvSpPr>
          <p:cNvPr id="22" name="Removed card"/>
          <p:cNvSpPr/>
          <p:nvPr/>
        </p:nvSpPr>
        <p:spPr>
          <a:xfrm>
            <a:off x="548640" y="3703320"/>
            <a:ext cx="5394960" cy="2468880"/>
          </a:xfrm>
          <a:prstGeom prst="roundRect">
            <a:avLst>
              <a:gd name="adj" fmla="val 3704"/>
            </a:avLst>
          </a:prstGeom>
          <a:solidFill>
            <a:schemeClr val="bg2"/>
          </a:solidFill>
          <a:ln/>
        </p:spPr>
      </p:sp>
      <p:sp>
        <p:nvSpPr>
          <p:cNvPr id="23" name="Cleaning circle"/>
          <p:cNvSpPr/>
          <p:nvPr/>
        </p:nvSpPr>
        <p:spPr>
          <a:xfrm>
            <a:off x="822960" y="39319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4" name="Cleaning icon" descr="Clean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634" y="4063594"/>
            <a:ext cx="285293" cy="285293"/>
          </a:xfrm>
          <a:prstGeom prst="rect">
            <a:avLst/>
          </a:prstGeom>
        </p:spPr>
      </p:pic>
      <p:sp>
        <p:nvSpPr>
          <p:cNvPr id="25" name="Removed heading"/>
          <p:cNvSpPr txBox="1"/>
          <p:nvPr/>
        </p:nvSpPr>
        <p:spPr>
          <a:xfrm>
            <a:off x="1554480" y="397764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What we removed</a:t>
            </a:r>
            <a:endParaRPr lang="en-US" sz="2000" dirty="0"/>
          </a:p>
        </p:txBody>
      </p:sp>
      <p:sp>
        <p:nvSpPr>
          <p:cNvPr id="26" name="Removed list"/>
          <p:cNvSpPr txBox="1"/>
          <p:nvPr/>
        </p:nvSpPr>
        <p:spPr>
          <a:xfrm>
            <a:off x="914400" y="4617720"/>
            <a:ext cx="47548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Out-of-period rows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Exact duplicate records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Trips shorter than 60 seconds or longer than 24 hours</a:t>
            </a:r>
            <a:endParaRPr lang="en-US" sz="1600" dirty="0"/>
          </a:p>
        </p:txBody>
      </p:sp>
      <p:sp>
        <p:nvSpPr>
          <p:cNvPr id="27" name="Kept card"/>
          <p:cNvSpPr/>
          <p:nvPr/>
        </p:nvSpPr>
        <p:spPr>
          <a:xfrm>
            <a:off x="6245352" y="3703320"/>
            <a:ext cx="5394960" cy="2468880"/>
          </a:xfrm>
          <a:prstGeom prst="roundRect">
            <a:avLst>
              <a:gd name="adj" fmla="val 3704"/>
            </a:avLst>
          </a:prstGeom>
          <a:solidFill>
            <a:schemeClr val="bg2"/>
          </a:solidFill>
          <a:ln/>
        </p:spPr>
      </p:sp>
      <p:sp>
        <p:nvSpPr>
          <p:cNvPr id="28" name="Missing data circle"/>
          <p:cNvSpPr/>
          <p:nvPr/>
        </p:nvSpPr>
        <p:spPr>
          <a:xfrm>
            <a:off x="6519672" y="393192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9" name="Missing data icon" descr="Missing data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1346" y="4063594"/>
            <a:ext cx="285293" cy="285293"/>
          </a:xfrm>
          <a:prstGeom prst="rect">
            <a:avLst/>
          </a:prstGeom>
        </p:spPr>
      </p:pic>
      <p:sp>
        <p:nvSpPr>
          <p:cNvPr id="30" name="Kept heading"/>
          <p:cNvSpPr txBox="1"/>
          <p:nvPr/>
        </p:nvSpPr>
        <p:spPr>
          <a:xfrm>
            <a:off x="7251192" y="397764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What we kept and must watch</a:t>
            </a:r>
            <a:endParaRPr lang="en-US" sz="2000" dirty="0"/>
          </a:p>
        </p:txBody>
      </p:sp>
      <p:sp>
        <p:nvSpPr>
          <p:cNvPr id="31" name="Kept list"/>
          <p:cNvSpPr txBox="1"/>
          <p:nvPr/>
        </p:nvSpPr>
        <p:spPr>
          <a:xfrm>
            <a:off x="6611112" y="4617720"/>
            <a:ext cx="4846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Missing station info (about 20%, all electric bikes): excluded only from the station analysis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The duration filter removed about 3.6% of casual trips and 2.1% of member trips</a:t>
            </a:r>
            <a:endParaRPr lang="en-US" sz="160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Casual share of trips rises to 40% in summer and falls to 18% in winter</a:t>
            </a:r>
            <a:endParaRPr lang="en-US" sz="36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548640" y="1737360"/>
          <a:ext cx="731520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Season footnote"/>
          <p:cNvSpPr txBox="1"/>
          <p:nvPr/>
        </p:nvSpPr>
        <p:spPr>
          <a:xfrm>
            <a:off x="548640" y="58521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The pre-set threshold (15 points between May–Aug and the other 8 months) was not met: the direction held, the difference was smaller than expected (about 9 points).</a:t>
            </a:r>
            <a:endParaRPr lang="en-US" sz="1200" dirty="0"/>
          </a:p>
        </p:txBody>
      </p:sp>
      <p:sp>
        <p:nvSpPr>
          <p:cNvPr id="5" name="Card 17.9% → 40.8%"/>
          <p:cNvSpPr/>
          <p:nvPr/>
        </p:nvSpPr>
        <p:spPr>
          <a:xfrm>
            <a:off x="8183880" y="1783080"/>
            <a:ext cx="3456432" cy="1280160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/>
        </p:spPr>
      </p:sp>
      <p:sp>
        <p:nvSpPr>
          <p:cNvPr id="6" name="Number 17.9% → 40.8%"/>
          <p:cNvSpPr txBox="1"/>
          <p:nvPr/>
        </p:nvSpPr>
        <p:spPr>
          <a:xfrm>
            <a:off x="8412480" y="1947672"/>
            <a:ext cx="2999232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17.9% → 40.8%</a:t>
            </a:r>
            <a:endParaRPr lang="en-US" sz="2600" dirty="0"/>
          </a:p>
        </p:txBody>
      </p:sp>
      <p:sp>
        <p:nvSpPr>
          <p:cNvPr id="7" name="Label 17.9% → 40.8%"/>
          <p:cNvSpPr txBox="1"/>
          <p:nvPr/>
        </p:nvSpPr>
        <p:spPr>
          <a:xfrm>
            <a:off x="8412480" y="2466594"/>
            <a:ext cx="2999232" cy="486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Casual share, January to July</a:t>
            </a:r>
            <a:endParaRPr lang="en-US" sz="1400" dirty="0"/>
          </a:p>
        </p:txBody>
      </p:sp>
      <p:sp>
        <p:nvSpPr>
          <p:cNvPr id="8" name="Card 14.5× · 4.6×"/>
          <p:cNvSpPr/>
          <p:nvPr/>
        </p:nvSpPr>
        <p:spPr>
          <a:xfrm>
            <a:off x="8183880" y="3200400"/>
            <a:ext cx="3456432" cy="1280160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/>
        </p:spPr>
      </p:sp>
      <p:sp>
        <p:nvSpPr>
          <p:cNvPr id="9" name="Number 14.5× · 4.6×"/>
          <p:cNvSpPr txBox="1"/>
          <p:nvPr/>
        </p:nvSpPr>
        <p:spPr>
          <a:xfrm>
            <a:off x="8412480" y="3364992"/>
            <a:ext cx="2999232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14.5× · 4.6×</a:t>
            </a:r>
            <a:endParaRPr lang="en-US" sz="2600" dirty="0"/>
          </a:p>
        </p:txBody>
      </p:sp>
      <p:sp>
        <p:nvSpPr>
          <p:cNvPr id="10" name="Label 14.5× · 4.6×"/>
          <p:cNvSpPr txBox="1"/>
          <p:nvPr/>
        </p:nvSpPr>
        <p:spPr>
          <a:xfrm>
            <a:off x="8412480" y="3883914"/>
            <a:ext cx="2999232" cy="486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Growth in casual and member trips, January to July (approx.)</a:t>
            </a:r>
            <a:endParaRPr lang="en-US" sz="1400" dirty="0"/>
          </a:p>
        </p:txBody>
      </p:sp>
      <p:sp>
        <p:nvSpPr>
          <p:cNvPr id="11" name="Card 39.6% · 30.5%"/>
          <p:cNvSpPr/>
          <p:nvPr/>
        </p:nvSpPr>
        <p:spPr>
          <a:xfrm>
            <a:off x="8183880" y="4617720"/>
            <a:ext cx="3456432" cy="1280160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/>
        </p:spPr>
      </p:sp>
      <p:sp>
        <p:nvSpPr>
          <p:cNvPr id="12" name="Number 39.6% · 30.5%"/>
          <p:cNvSpPr txBox="1"/>
          <p:nvPr/>
        </p:nvSpPr>
        <p:spPr>
          <a:xfrm>
            <a:off x="8412480" y="4782312"/>
            <a:ext cx="2999232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39.6% · 30.5%</a:t>
            </a:r>
            <a:endParaRPr lang="en-US" sz="2600" dirty="0"/>
          </a:p>
        </p:txBody>
      </p:sp>
      <p:sp>
        <p:nvSpPr>
          <p:cNvPr id="13" name="Label 39.6% · 30.5%"/>
          <p:cNvSpPr txBox="1"/>
          <p:nvPr/>
        </p:nvSpPr>
        <p:spPr>
          <a:xfrm>
            <a:off x="8412480" y="5301234"/>
            <a:ext cx="2999232" cy="486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Casual share, May–Aug and the other 8 months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53% of casual trips fall on Friday–Sunday</a:t>
            </a:r>
            <a:endParaRPr lang="en-US" sz="36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548640" y="1737360"/>
          <a:ext cx="749808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Day footnote"/>
          <p:cNvSpPr txBox="1"/>
          <p:nvPr/>
        </p:nvSpPr>
        <p:spPr>
          <a:xfrm>
            <a:off x="548640" y="585216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Percent within each group’s trips. This comparison was made after seeing the table (exploratory observation).</a:t>
            </a:r>
            <a:endParaRPr lang="en-US" sz="1200" dirty="0"/>
          </a:p>
        </p:txBody>
      </p:sp>
      <p:sp>
        <p:nvSpPr>
          <p:cNvPr id="5" name="Card 52.9%"/>
          <p:cNvSpPr/>
          <p:nvPr/>
        </p:nvSpPr>
        <p:spPr>
          <a:xfrm>
            <a:off x="8321040" y="1783080"/>
            <a:ext cx="3319272" cy="1280160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/>
        </p:spPr>
      </p:sp>
      <p:sp>
        <p:nvSpPr>
          <p:cNvPr id="6" name="Number 52.9%"/>
          <p:cNvSpPr txBox="1"/>
          <p:nvPr/>
        </p:nvSpPr>
        <p:spPr>
          <a:xfrm>
            <a:off x="8549640" y="1947672"/>
            <a:ext cx="2862072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52.9%</a:t>
            </a:r>
            <a:endParaRPr lang="en-US" sz="3000" dirty="0"/>
          </a:p>
        </p:txBody>
      </p:sp>
      <p:sp>
        <p:nvSpPr>
          <p:cNvPr id="7" name="Label 52.9%"/>
          <p:cNvSpPr txBox="1"/>
          <p:nvPr/>
        </p:nvSpPr>
        <p:spPr>
          <a:xfrm>
            <a:off x="8549640" y="2535174"/>
            <a:ext cx="2862072" cy="4183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of casual trips happen Friday–Sunday</a:t>
            </a:r>
            <a:endParaRPr lang="en-US" sz="1400" dirty="0"/>
          </a:p>
        </p:txBody>
      </p:sp>
      <p:sp>
        <p:nvSpPr>
          <p:cNvPr id="8" name="Card 38.0%"/>
          <p:cNvSpPr/>
          <p:nvPr/>
        </p:nvSpPr>
        <p:spPr>
          <a:xfrm>
            <a:off x="8321040" y="3200400"/>
            <a:ext cx="3319272" cy="1280160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/>
        </p:spPr>
      </p:sp>
      <p:sp>
        <p:nvSpPr>
          <p:cNvPr id="9" name="Number 38.0%"/>
          <p:cNvSpPr txBox="1"/>
          <p:nvPr/>
        </p:nvSpPr>
        <p:spPr>
          <a:xfrm>
            <a:off x="8549640" y="3364992"/>
            <a:ext cx="2862072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38.0%</a:t>
            </a:r>
            <a:endParaRPr lang="en-US" sz="3000" dirty="0"/>
          </a:p>
        </p:txBody>
      </p:sp>
      <p:sp>
        <p:nvSpPr>
          <p:cNvPr id="10" name="Label 38.0%"/>
          <p:cNvSpPr txBox="1"/>
          <p:nvPr/>
        </p:nvSpPr>
        <p:spPr>
          <a:xfrm>
            <a:off x="8549640" y="3952494"/>
            <a:ext cx="2862072" cy="4183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of member trips happen Friday–Sunday</a:t>
            </a:r>
            <a:endParaRPr lang="en-US" sz="1400" dirty="0"/>
          </a:p>
        </p:txBody>
      </p:sp>
      <p:sp>
        <p:nvSpPr>
          <p:cNvPr id="11" name="Card +13.9 pts"/>
          <p:cNvSpPr/>
          <p:nvPr/>
        </p:nvSpPr>
        <p:spPr>
          <a:xfrm>
            <a:off x="8321040" y="4617720"/>
            <a:ext cx="3319272" cy="1280160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/>
        </p:spPr>
      </p:sp>
      <p:sp>
        <p:nvSpPr>
          <p:cNvPr id="12" name="Number +13.9 pts"/>
          <p:cNvSpPr txBox="1"/>
          <p:nvPr/>
        </p:nvSpPr>
        <p:spPr>
          <a:xfrm>
            <a:off x="8549640" y="4782312"/>
            <a:ext cx="2862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+13.9 pts</a:t>
            </a:r>
            <a:endParaRPr lang="en-US" sz="2400" dirty="0"/>
          </a:p>
        </p:txBody>
      </p:sp>
      <p:sp>
        <p:nvSpPr>
          <p:cNvPr id="13" name="Label +13.9 pts"/>
          <p:cNvSpPr txBox="1"/>
          <p:nvPr/>
        </p:nvSpPr>
        <p:spPr>
          <a:xfrm>
            <a:off x="8549640" y="5266944"/>
            <a:ext cx="286207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almost all of the gap is Saturday–Sunday; Friday is only +1.0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Members peak on weekday mornings and evenings; weekends show no peaks</a:t>
            </a:r>
            <a:endParaRPr lang="en-US" sz="36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548640" y="1691640"/>
          <a:ext cx="544068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" name="Chart 1"/>
          <p:cNvGraphicFramePr/>
          <p:nvPr/>
        </p:nvGraphicFramePr>
        <p:xfrm>
          <a:off x="6199632" y="1691640"/>
          <a:ext cx="544068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5" name="Hour caption"/>
          <p:cNvSpPr txBox="1"/>
          <p:nvPr/>
        </p:nvSpPr>
        <p:spPr>
          <a:xfrm>
            <a:off x="548640" y="54406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Morning peak (08:00): </a:t>
            </a:r>
            <a:r>
              <a:rPr lang="en-US" sz="1400" dirty="0">
                <a:solidFill>
                  <a:schemeClr val="tx1"/>
                </a:solidFill>
              </a:rPr>
              <a:t>members 8.4%, casual 4.4% (below casual’s midday level). </a:t>
            </a:r>
            <a:r>
              <a:rPr lang="en-US" sz="1400" b="1" dirty="0">
                <a:solidFill>
                  <a:schemeClr val="tx1"/>
                </a:solidFill>
              </a:rPr>
              <a:t>Evening peak (17:00): </a:t>
            </a:r>
            <a:r>
              <a:rPr lang="en-US" sz="1400" dirty="0">
                <a:solidFill>
                  <a:schemeClr val="tx1"/>
                </a:solidFill>
              </a:rPr>
              <a:t>members 11.9%, casual 10.8%. </a:t>
            </a:r>
            <a:r>
              <a:rPr lang="en-US" sz="1400" i="1" dirty="0">
                <a:solidFill>
                  <a:schemeClr val="tx1"/>
                </a:solidFill>
              </a:rPr>
              <a:t>Timing does not show the purpose of a trip.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Casual trips are longer on both bike types, most of all on classic bikes</a:t>
            </a:r>
            <a:endParaRPr lang="en-US" sz="36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548640" y="1737360"/>
          <a:ext cx="621792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Duration footnote"/>
          <p:cNvSpPr txBox="1"/>
          <p:nvPr/>
        </p:nvSpPr>
        <p:spPr>
          <a:xfrm>
            <a:off x="548640" y="5852160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Median trip duration (minutes). The median shows the typical trip; the mean is pulled up by long trips.</a:t>
            </a:r>
            <a:endParaRPr lang="en-US" sz="1200" dirty="0"/>
          </a:p>
        </p:txBody>
      </p:sp>
      <p:sp>
        <p:nvSpPr>
          <p:cNvPr id="5" name="Duration card 1"/>
          <p:cNvSpPr/>
          <p:nvPr/>
        </p:nvSpPr>
        <p:spPr>
          <a:xfrm>
            <a:off x="7040880" y="1783080"/>
            <a:ext cx="4599432" cy="1234440"/>
          </a:xfrm>
          <a:prstGeom prst="roundRect">
            <a:avLst>
              <a:gd name="adj" fmla="val 7407"/>
            </a:avLst>
          </a:prstGeom>
          <a:solidFill>
            <a:schemeClr val="bg2"/>
          </a:solidFill>
          <a:ln/>
        </p:spPr>
      </p:sp>
      <p:sp>
        <p:nvSpPr>
          <p:cNvPr id="6" name="Duration label 1"/>
          <p:cNvSpPr txBox="1"/>
          <p:nvPr/>
        </p:nvSpPr>
        <p:spPr>
          <a:xfrm>
            <a:off x="7269480" y="196596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6"/>
                </a:solidFill>
              </a:rPr>
              <a:t>Mean duration, casual vs members</a:t>
            </a:r>
            <a:endParaRPr lang="en-US" sz="1600" dirty="0"/>
          </a:p>
        </p:txBody>
      </p:sp>
      <p:sp>
        <p:nvSpPr>
          <p:cNvPr id="7" name="Duration value 1"/>
          <p:cNvSpPr txBox="1"/>
          <p:nvPr/>
        </p:nvSpPr>
        <p:spPr>
          <a:xfrm>
            <a:off x="7269480" y="2377440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18.2 vs 12.2 min</a:t>
            </a:r>
            <a:endParaRPr lang="en-US" sz="2200" dirty="0"/>
          </a:p>
        </p:txBody>
      </p:sp>
      <p:sp>
        <p:nvSpPr>
          <p:cNvPr id="8" name="Duration card 2"/>
          <p:cNvSpPr/>
          <p:nvPr/>
        </p:nvSpPr>
        <p:spPr>
          <a:xfrm>
            <a:off x="7040880" y="3200400"/>
            <a:ext cx="4599432" cy="1234440"/>
          </a:xfrm>
          <a:prstGeom prst="roundRect">
            <a:avLst>
              <a:gd name="adj" fmla="val 7407"/>
            </a:avLst>
          </a:prstGeom>
          <a:solidFill>
            <a:schemeClr val="bg2"/>
          </a:solidFill>
          <a:ln/>
        </p:spPr>
      </p:sp>
      <p:sp>
        <p:nvSpPr>
          <p:cNvPr id="9" name="Duration label 2"/>
          <p:cNvSpPr txBox="1"/>
          <p:nvPr/>
        </p:nvSpPr>
        <p:spPr>
          <a:xfrm>
            <a:off x="7269480" y="338328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6"/>
                </a:solidFill>
              </a:rPr>
              <a:t>Median duration, casual vs members</a:t>
            </a:r>
            <a:endParaRPr lang="en-US" sz="1600" dirty="0"/>
          </a:p>
        </p:txBody>
      </p:sp>
      <p:sp>
        <p:nvSpPr>
          <p:cNvPr id="10" name="Duration value 2"/>
          <p:cNvSpPr txBox="1"/>
          <p:nvPr/>
        </p:nvSpPr>
        <p:spPr>
          <a:xfrm>
            <a:off x="7269480" y="3794760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11.1 vs 8.7 min</a:t>
            </a:r>
            <a:endParaRPr lang="en-US" sz="2200" dirty="0"/>
          </a:p>
        </p:txBody>
      </p:sp>
      <p:sp>
        <p:nvSpPr>
          <p:cNvPr id="11" name="Duration card 3"/>
          <p:cNvSpPr/>
          <p:nvPr/>
        </p:nvSpPr>
        <p:spPr>
          <a:xfrm>
            <a:off x="7040880" y="4617720"/>
            <a:ext cx="4599432" cy="1234440"/>
          </a:xfrm>
          <a:prstGeom prst="roundRect">
            <a:avLst>
              <a:gd name="adj" fmla="val 7407"/>
            </a:avLst>
          </a:prstGeom>
          <a:solidFill>
            <a:schemeClr val="bg2"/>
          </a:solidFill>
          <a:ln/>
        </p:spPr>
      </p:sp>
      <p:sp>
        <p:nvSpPr>
          <p:cNvPr id="12" name="Duration label 3"/>
          <p:cNvSpPr txBox="1"/>
          <p:nvPr/>
        </p:nvSpPr>
        <p:spPr>
          <a:xfrm>
            <a:off x="7269480" y="480060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6"/>
                </a:solidFill>
              </a:rPr>
              <a:t>Trips over 60 min, casual vs members</a:t>
            </a:r>
            <a:endParaRPr lang="en-US" sz="1600" dirty="0"/>
          </a:p>
        </p:txBody>
      </p:sp>
      <p:sp>
        <p:nvSpPr>
          <p:cNvPr id="13" name="Duration value 3"/>
          <p:cNvSpPr txBox="1"/>
          <p:nvPr/>
        </p:nvSpPr>
        <p:spPr>
          <a:xfrm>
            <a:off x="7269480" y="5212080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3.9% vs 0.7%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74% of casual trips are made on electric bikes</a:t>
            </a:r>
            <a:endParaRPr lang="en-US" sz="36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548640" y="1737360"/>
          <a:ext cx="621792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Bike footnote"/>
          <p:cNvSpPr txBox="1"/>
          <p:nvPr/>
        </p:nvSpPr>
        <p:spPr>
          <a:xfrm>
            <a:off x="548640" y="585216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Percent within each group’s trips.</a:t>
            </a:r>
            <a:endParaRPr lang="en-US" sz="1200" dirty="0"/>
          </a:p>
        </p:txBody>
      </p:sp>
      <p:sp>
        <p:nvSpPr>
          <p:cNvPr id="5" name="Card 74.2% · 68.3%"/>
          <p:cNvSpPr/>
          <p:nvPr/>
        </p:nvSpPr>
        <p:spPr>
          <a:xfrm>
            <a:off x="7040880" y="1783080"/>
            <a:ext cx="4599432" cy="141732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/>
        </p:spPr>
      </p:sp>
      <p:sp>
        <p:nvSpPr>
          <p:cNvPr id="6" name="Number 74.2% · 68.3%"/>
          <p:cNvSpPr txBox="1"/>
          <p:nvPr/>
        </p:nvSpPr>
        <p:spPr>
          <a:xfrm>
            <a:off x="7269480" y="1947672"/>
            <a:ext cx="4142232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74.2% · 68.3%</a:t>
            </a:r>
            <a:endParaRPr lang="en-US" sz="2800" dirty="0"/>
          </a:p>
        </p:txBody>
      </p:sp>
      <p:sp>
        <p:nvSpPr>
          <p:cNvPr id="7" name="Label 74.2% · 68.3%"/>
          <p:cNvSpPr txBox="1"/>
          <p:nvPr/>
        </p:nvSpPr>
        <p:spPr>
          <a:xfrm>
            <a:off x="7269480" y="2500884"/>
            <a:ext cx="4142232" cy="589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electric bike share: casual and members</a:t>
            </a:r>
            <a:endParaRPr lang="en-US" sz="1400" dirty="0"/>
          </a:p>
        </p:txBody>
      </p:sp>
      <p:sp>
        <p:nvSpPr>
          <p:cNvPr id="8" name="Card 12 / 12 months"/>
          <p:cNvSpPr/>
          <p:nvPr/>
        </p:nvSpPr>
        <p:spPr>
          <a:xfrm>
            <a:off x="7040880" y="3383280"/>
            <a:ext cx="4599432" cy="141732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/>
        </p:spPr>
      </p:sp>
      <p:sp>
        <p:nvSpPr>
          <p:cNvPr id="9" name="Number 12 / 12 months"/>
          <p:cNvSpPr txBox="1"/>
          <p:nvPr/>
        </p:nvSpPr>
        <p:spPr>
          <a:xfrm>
            <a:off x="7269480" y="3547872"/>
            <a:ext cx="4142232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 / 12 months</a:t>
            </a:r>
            <a:endParaRPr lang="en-US" sz="2800" dirty="0"/>
          </a:p>
        </p:txBody>
      </p:sp>
      <p:sp>
        <p:nvSpPr>
          <p:cNvPr id="10" name="Label 12 / 12 months"/>
          <p:cNvSpPr txBox="1"/>
          <p:nvPr/>
        </p:nvSpPr>
        <p:spPr>
          <a:xfrm>
            <a:off x="7269480" y="4101084"/>
            <a:ext cx="4142232" cy="589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casual electric share is higher than members’ every month (3.7 to 10.1 points)</a:t>
            </a:r>
            <a:endParaRPr lang="en-US" sz="1400" dirty="0"/>
          </a:p>
        </p:txBody>
      </p:sp>
      <p:sp>
        <p:nvSpPr>
          <p:cNvPr id="11" name="Card Rising"/>
          <p:cNvSpPr/>
          <p:nvPr/>
        </p:nvSpPr>
        <p:spPr>
          <a:xfrm>
            <a:off x="7040880" y="4983480"/>
            <a:ext cx="4599432" cy="1188720"/>
          </a:xfrm>
          <a:prstGeom prst="roundRect">
            <a:avLst>
              <a:gd name="adj" fmla="val 7692"/>
            </a:avLst>
          </a:prstGeom>
          <a:solidFill>
            <a:schemeClr val="bg2"/>
          </a:solidFill>
          <a:ln/>
        </p:spPr>
      </p:sp>
      <p:sp>
        <p:nvSpPr>
          <p:cNvPr id="12" name="Number Rising"/>
          <p:cNvSpPr txBox="1"/>
          <p:nvPr/>
        </p:nvSpPr>
        <p:spPr>
          <a:xfrm>
            <a:off x="7269480" y="5148072"/>
            <a:ext cx="4142232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Rising</a:t>
            </a:r>
            <a:endParaRPr lang="en-US" sz="2200" dirty="0"/>
          </a:p>
        </p:txBody>
      </p:sp>
      <p:sp>
        <p:nvSpPr>
          <p:cNvPr id="13" name="Label Rising"/>
          <p:cNvSpPr txBox="1"/>
          <p:nvPr/>
        </p:nvSpPr>
        <p:spPr>
          <a:xfrm>
            <a:off x="7269480" y="5598414"/>
            <a:ext cx="4142232" cy="4640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in both groups through the year; reason unknown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Casual trips concentrate at a few stations</a:t>
            </a:r>
            <a:endParaRPr lang="en-US" sz="36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548640" y="1691640"/>
          <a:ext cx="7223760" cy="4160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Station footnote"/>
          <p:cNvSpPr txBox="1"/>
          <p:nvPr/>
        </p:nvSpPr>
        <p:spPr>
          <a:xfrm>
            <a:off x="548640" y="5897880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6"/>
                </a:solidFill>
              </a:rPr>
              <a:t>Top 10 start stations for casual trips. Station data covers 80% of trips; the missing ones are electric bikes. Location interpretations are based on station names and were not verified.</a:t>
            </a:r>
            <a:endParaRPr lang="en-US" sz="1100" dirty="0"/>
          </a:p>
        </p:txBody>
      </p:sp>
      <p:sp>
        <p:nvSpPr>
          <p:cNvPr id="5" name="Card 0"/>
          <p:cNvSpPr/>
          <p:nvPr/>
        </p:nvSpPr>
        <p:spPr>
          <a:xfrm>
            <a:off x="8046720" y="1783080"/>
            <a:ext cx="3593592" cy="1325880"/>
          </a:xfrm>
          <a:prstGeom prst="roundRect">
            <a:avLst>
              <a:gd name="adj" fmla="val 6897"/>
            </a:avLst>
          </a:prstGeom>
          <a:solidFill>
            <a:schemeClr val="bg2"/>
          </a:solidFill>
          <a:ln/>
        </p:spPr>
      </p:sp>
      <p:sp>
        <p:nvSpPr>
          <p:cNvPr id="6" name="Number 0"/>
          <p:cNvSpPr txBox="1"/>
          <p:nvPr/>
        </p:nvSpPr>
        <p:spPr>
          <a:xfrm>
            <a:off x="8275320" y="1947672"/>
            <a:ext cx="3136392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000" dirty="0"/>
          </a:p>
        </p:txBody>
      </p:sp>
      <p:sp>
        <p:nvSpPr>
          <p:cNvPr id="7" name="Label 0"/>
          <p:cNvSpPr txBox="1"/>
          <p:nvPr/>
        </p:nvSpPr>
        <p:spPr>
          <a:xfrm>
            <a:off x="8275320" y="2535174"/>
            <a:ext cx="3136392" cy="4640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stations shared with members in the top 10</a:t>
            </a:r>
            <a:endParaRPr lang="en-US" sz="1400" dirty="0"/>
          </a:p>
        </p:txBody>
      </p:sp>
      <p:sp>
        <p:nvSpPr>
          <p:cNvPr id="8" name="Card 11.7% · 6.1%"/>
          <p:cNvSpPr/>
          <p:nvPr/>
        </p:nvSpPr>
        <p:spPr>
          <a:xfrm>
            <a:off x="8046720" y="3246120"/>
            <a:ext cx="3593592" cy="1325880"/>
          </a:xfrm>
          <a:prstGeom prst="roundRect">
            <a:avLst>
              <a:gd name="adj" fmla="val 6897"/>
            </a:avLst>
          </a:prstGeom>
          <a:solidFill>
            <a:schemeClr val="bg2"/>
          </a:solidFill>
          <a:ln/>
        </p:spPr>
      </p:sp>
      <p:sp>
        <p:nvSpPr>
          <p:cNvPr id="9" name="Number 11.7% · 6.1%"/>
          <p:cNvSpPr txBox="1"/>
          <p:nvPr/>
        </p:nvSpPr>
        <p:spPr>
          <a:xfrm>
            <a:off x="8275320" y="3410712"/>
            <a:ext cx="3136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11.7% · 6.1%</a:t>
            </a:r>
            <a:endParaRPr lang="en-US" sz="2400" dirty="0"/>
          </a:p>
        </p:txBody>
      </p:sp>
      <p:sp>
        <p:nvSpPr>
          <p:cNvPr id="10" name="Label 11.7% · 6.1%"/>
          <p:cNvSpPr txBox="1"/>
          <p:nvPr/>
        </p:nvSpPr>
        <p:spPr>
          <a:xfrm>
            <a:off x="8275320" y="3895344"/>
            <a:ext cx="31363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share of trips at the top 10 stations: casual and members</a:t>
            </a:r>
            <a:endParaRPr lang="en-US" sz="1400" dirty="0"/>
          </a:p>
        </p:txBody>
      </p:sp>
      <p:sp>
        <p:nvSpPr>
          <p:cNvPr id="11" name="Card 7.4% · 2.2%"/>
          <p:cNvSpPr/>
          <p:nvPr/>
        </p:nvSpPr>
        <p:spPr>
          <a:xfrm>
            <a:off x="8046720" y="4709160"/>
            <a:ext cx="3593592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12" name="Number 7.4% · 2.2%"/>
          <p:cNvSpPr txBox="1"/>
          <p:nvPr/>
        </p:nvSpPr>
        <p:spPr>
          <a:xfrm>
            <a:off x="8275320" y="4873752"/>
            <a:ext cx="3136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7.4% · 2.2%</a:t>
            </a:r>
            <a:endParaRPr lang="en-US" sz="2400" dirty="0"/>
          </a:p>
        </p:txBody>
      </p:sp>
      <p:sp>
        <p:nvSpPr>
          <p:cNvPr id="13" name="Label 7.4% · 2.2%"/>
          <p:cNvSpPr txBox="1"/>
          <p:nvPr/>
        </p:nvSpPr>
        <p:spPr>
          <a:xfrm>
            <a:off x="8275320" y="5358384"/>
            <a:ext cx="313639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round-trip share: casual and members (3.4×)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Limits of these findings</a:t>
            </a:r>
            <a:endParaRPr lang="en-US" sz="3600" dirty="0"/>
          </a:p>
        </p:txBody>
      </p:sp>
      <p:sp>
        <p:nvSpPr>
          <p:cNvPr id="3" name="Limit card 1"/>
          <p:cNvSpPr/>
          <p:nvPr/>
        </p:nvSpPr>
        <p:spPr>
          <a:xfrm>
            <a:off x="548640" y="1783080"/>
            <a:ext cx="3520440" cy="205740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</p:spPr>
      </p:sp>
      <p:sp>
        <p:nvSpPr>
          <p:cNvPr id="4" name="Limit icon 1 circle"/>
          <p:cNvSpPr/>
          <p:nvPr/>
        </p:nvSpPr>
        <p:spPr>
          <a:xfrm>
            <a:off x="777240" y="20116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Limit icon 1 icon" descr="Limit ico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8914" y="2143354"/>
            <a:ext cx="285293" cy="285293"/>
          </a:xfrm>
          <a:prstGeom prst="rect">
            <a:avLst/>
          </a:prstGeom>
        </p:spPr>
      </p:pic>
      <p:sp>
        <p:nvSpPr>
          <p:cNvPr id="6" name="Limit heading 1"/>
          <p:cNvSpPr txBox="1"/>
          <p:nvPr/>
        </p:nvSpPr>
        <p:spPr>
          <a:xfrm>
            <a:off x="1463040" y="2039112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Trips, not users</a:t>
            </a:r>
            <a:endParaRPr lang="en-US" sz="1600" dirty="0"/>
          </a:p>
        </p:txBody>
      </p:sp>
      <p:sp>
        <p:nvSpPr>
          <p:cNvPr id="7" name="Limit text 1"/>
          <p:cNvSpPr txBox="1"/>
          <p:nvPr/>
        </p:nvSpPr>
        <p:spPr>
          <a:xfrm>
            <a:off x="777240" y="269748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No user IDs. Shares are shares of trips; the same person may have made many trips.</a:t>
            </a:r>
            <a:endParaRPr lang="en-US" sz="1500" dirty="0"/>
          </a:p>
        </p:txBody>
      </p:sp>
      <p:sp>
        <p:nvSpPr>
          <p:cNvPr id="8" name="Limit card 2"/>
          <p:cNvSpPr/>
          <p:nvPr/>
        </p:nvSpPr>
        <p:spPr>
          <a:xfrm>
            <a:off x="4335628" y="1783080"/>
            <a:ext cx="3520440" cy="205740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</p:spPr>
      </p:sp>
      <p:sp>
        <p:nvSpPr>
          <p:cNvPr id="9" name="Limit icon 2 circle"/>
          <p:cNvSpPr/>
          <p:nvPr/>
        </p:nvSpPr>
        <p:spPr>
          <a:xfrm>
            <a:off x="4564228" y="20116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Limit icon 2 icon" descr="Limit ic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5901" y="2143354"/>
            <a:ext cx="285293" cy="285293"/>
          </a:xfrm>
          <a:prstGeom prst="rect">
            <a:avLst/>
          </a:prstGeom>
        </p:spPr>
      </p:pic>
      <p:sp>
        <p:nvSpPr>
          <p:cNvPr id="11" name="Limit heading 2"/>
          <p:cNvSpPr txBox="1"/>
          <p:nvPr/>
        </p:nvSpPr>
        <p:spPr>
          <a:xfrm>
            <a:off x="5250028" y="2039112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One year, no weather data</a:t>
            </a:r>
            <a:endParaRPr lang="en-US" sz="1600" dirty="0"/>
          </a:p>
        </p:txBody>
      </p:sp>
      <p:sp>
        <p:nvSpPr>
          <p:cNvPr id="12" name="Limit text 2"/>
          <p:cNvSpPr txBox="1"/>
          <p:nvPr/>
        </p:nvSpPr>
        <p:spPr>
          <a:xfrm>
            <a:off x="4564228" y="269748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We can say “higher in warm months”, not “because of temperature”. Year-specific effects cannot be separated.</a:t>
            </a:r>
            <a:endParaRPr lang="en-US" sz="1500" dirty="0"/>
          </a:p>
        </p:txBody>
      </p:sp>
      <p:sp>
        <p:nvSpPr>
          <p:cNvPr id="13" name="Limit card 3"/>
          <p:cNvSpPr/>
          <p:nvPr/>
        </p:nvSpPr>
        <p:spPr>
          <a:xfrm>
            <a:off x="8122615" y="1783080"/>
            <a:ext cx="3520440" cy="205740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</p:spPr>
      </p:sp>
      <p:sp>
        <p:nvSpPr>
          <p:cNvPr id="14" name="Limit icon 3 circle"/>
          <p:cNvSpPr/>
          <p:nvPr/>
        </p:nvSpPr>
        <p:spPr>
          <a:xfrm>
            <a:off x="8351215" y="20116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Limit icon 3 icon" descr="Limit icon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82889" y="2143354"/>
            <a:ext cx="285293" cy="285293"/>
          </a:xfrm>
          <a:prstGeom prst="rect">
            <a:avLst/>
          </a:prstGeom>
        </p:spPr>
      </p:pic>
      <p:sp>
        <p:nvSpPr>
          <p:cNvPr id="16" name="Limit heading 3"/>
          <p:cNvSpPr txBox="1"/>
          <p:nvPr/>
        </p:nvSpPr>
        <p:spPr>
          <a:xfrm>
            <a:off x="9037015" y="2039112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Station coverage is 80%</a:t>
            </a:r>
            <a:endParaRPr lang="en-US" sz="1600" dirty="0"/>
          </a:p>
        </p:txBody>
      </p:sp>
      <p:sp>
        <p:nvSpPr>
          <p:cNvPr id="17" name="Limit text 3"/>
          <p:cNvSpPr txBox="1"/>
          <p:nvPr/>
        </p:nvSpPr>
        <p:spPr>
          <a:xfrm>
            <a:off x="8351215" y="269748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Missing stations are electric bikes. Results may skew toward classic bikes.</a:t>
            </a:r>
            <a:endParaRPr lang="en-US" sz="1500" dirty="0"/>
          </a:p>
        </p:txBody>
      </p:sp>
      <p:sp>
        <p:nvSpPr>
          <p:cNvPr id="18" name="Limit card 4"/>
          <p:cNvSpPr/>
          <p:nvPr/>
        </p:nvSpPr>
        <p:spPr>
          <a:xfrm>
            <a:off x="548640" y="4023360"/>
            <a:ext cx="3520440" cy="205740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</p:spPr>
      </p:sp>
      <p:sp>
        <p:nvSpPr>
          <p:cNvPr id="19" name="Limit icon 4 circle"/>
          <p:cNvSpPr/>
          <p:nvPr/>
        </p:nvSpPr>
        <p:spPr>
          <a:xfrm>
            <a:off x="777240" y="42519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Limit icon 4 icon" descr="Limit icon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8914" y="4383634"/>
            <a:ext cx="285293" cy="285293"/>
          </a:xfrm>
          <a:prstGeom prst="rect">
            <a:avLst/>
          </a:prstGeom>
        </p:spPr>
      </p:pic>
      <p:sp>
        <p:nvSpPr>
          <p:cNvPr id="21" name="Limit heading 4"/>
          <p:cNvSpPr txBox="1"/>
          <p:nvPr/>
        </p:nvSpPr>
        <p:spPr>
          <a:xfrm>
            <a:off x="1463040" y="4279392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Duration filter was uneven</a:t>
            </a:r>
            <a:endParaRPr lang="en-US" sz="1600" dirty="0"/>
          </a:p>
        </p:txBody>
      </p:sp>
      <p:sp>
        <p:nvSpPr>
          <p:cNvPr id="22" name="Limit text 4"/>
          <p:cNvSpPr txBox="1"/>
          <p:nvPr/>
        </p:nvSpPr>
        <p:spPr>
          <a:xfrm>
            <a:off x="777240" y="493776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About 3.6% of casual trips and 2.1% of member trips were removed.</a:t>
            </a:r>
            <a:endParaRPr lang="en-US" sz="1500" dirty="0"/>
          </a:p>
        </p:txBody>
      </p:sp>
      <p:sp>
        <p:nvSpPr>
          <p:cNvPr id="23" name="Limit card 5"/>
          <p:cNvSpPr/>
          <p:nvPr/>
        </p:nvSpPr>
        <p:spPr>
          <a:xfrm>
            <a:off x="4335628" y="4023360"/>
            <a:ext cx="3520440" cy="205740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</p:spPr>
      </p:sp>
      <p:sp>
        <p:nvSpPr>
          <p:cNvPr id="24" name="Limit icon 5 circle"/>
          <p:cNvSpPr/>
          <p:nvPr/>
        </p:nvSpPr>
        <p:spPr>
          <a:xfrm>
            <a:off x="4564228" y="42519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5" name="Limit icon 5 icon" descr="Limit icon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95901" y="4383634"/>
            <a:ext cx="285293" cy="285293"/>
          </a:xfrm>
          <a:prstGeom prst="rect">
            <a:avLst/>
          </a:prstGeom>
        </p:spPr>
      </p:pic>
      <p:sp>
        <p:nvSpPr>
          <p:cNvPr id="26" name="Limit heading 5"/>
          <p:cNvSpPr txBox="1"/>
          <p:nvPr/>
        </p:nvSpPr>
        <p:spPr>
          <a:xfrm>
            <a:off x="5250028" y="4279392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Purpose is not in the data</a:t>
            </a:r>
            <a:endParaRPr lang="en-US" sz="1600" dirty="0"/>
          </a:p>
        </p:txBody>
      </p:sp>
      <p:sp>
        <p:nvSpPr>
          <p:cNvPr id="27" name="Limit text 5"/>
          <p:cNvSpPr txBox="1"/>
          <p:nvPr/>
        </p:nvSpPr>
        <p:spPr>
          <a:xfrm>
            <a:off x="4564228" y="493776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Timing and stations do not show why people ride or how likely they are to convert.</a:t>
            </a:r>
            <a:endParaRPr lang="en-US" sz="1500" dirty="0"/>
          </a:p>
        </p:txBody>
      </p:sp>
      <p:sp>
        <p:nvSpPr>
          <p:cNvPr id="28" name="Limit card 6"/>
          <p:cNvSpPr/>
          <p:nvPr/>
        </p:nvSpPr>
        <p:spPr>
          <a:xfrm>
            <a:off x="8122615" y="4023360"/>
            <a:ext cx="3520440" cy="205740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</p:spPr>
      </p:sp>
      <p:sp>
        <p:nvSpPr>
          <p:cNvPr id="29" name="Limit icon 6 circle"/>
          <p:cNvSpPr/>
          <p:nvPr/>
        </p:nvSpPr>
        <p:spPr>
          <a:xfrm>
            <a:off x="8351215" y="42519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0" name="Limit icon 6 icon" descr="Limit icon 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82889" y="4383634"/>
            <a:ext cx="285293" cy="285293"/>
          </a:xfrm>
          <a:prstGeom prst="rect">
            <a:avLst/>
          </a:prstGeom>
        </p:spPr>
      </p:pic>
      <p:sp>
        <p:nvSpPr>
          <p:cNvPr id="31" name="Limit heading 6"/>
          <p:cNvSpPr txBox="1"/>
          <p:nvPr/>
        </p:nvSpPr>
        <p:spPr>
          <a:xfrm>
            <a:off x="9037015" y="4279392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Factors not separated</a:t>
            </a:r>
            <a:endParaRPr lang="en-US" sz="1600" dirty="0"/>
          </a:p>
        </p:txBody>
      </p:sp>
      <p:sp>
        <p:nvSpPr>
          <p:cNvPr id="32" name="Limit text 6"/>
          <p:cNvSpPr txBox="1"/>
          <p:nvPr/>
        </p:nvSpPr>
        <p:spPr>
          <a:xfrm>
            <a:off x="8351215" y="493776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Bike type and season were not controlled together. Some findings are exploratory.</a:t>
            </a:r>
            <a:endParaRPr lang="en-US" sz="150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bg1"/>
                </a:solidFill>
              </a:rPr>
              <a:t>Three recommendations: test with a small pilot first</a:t>
            </a:r>
            <a:endParaRPr lang="en-US" sz="3600" dirty="0"/>
          </a:p>
        </p:txBody>
      </p:sp>
      <p:sp>
        <p:nvSpPr>
          <p:cNvPr id="3" name="Recommendation card 1"/>
          <p:cNvSpPr/>
          <p:nvPr/>
        </p:nvSpPr>
        <p:spPr>
          <a:xfrm>
            <a:off x="548640" y="1691640"/>
            <a:ext cx="3520440" cy="3977640"/>
          </a:xfrm>
          <a:prstGeom prst="roundRect">
            <a:avLst>
              <a:gd name="adj" fmla="val 2597"/>
            </a:avLst>
          </a:prstGeom>
          <a:solidFill>
            <a:schemeClr val="bg1"/>
          </a:solidFill>
          <a:ln/>
        </p:spPr>
      </p:sp>
      <p:sp>
        <p:nvSpPr>
          <p:cNvPr id="4" name="Recommendation icon 1 circle"/>
          <p:cNvSpPr/>
          <p:nvPr/>
        </p:nvSpPr>
        <p:spPr>
          <a:xfrm>
            <a:off x="822960" y="1920240"/>
            <a:ext cx="594360" cy="59436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5" name="Recommendation icon 1 icon" descr="Recommendation ico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606" y="2062886"/>
            <a:ext cx="309067" cy="309067"/>
          </a:xfrm>
          <a:prstGeom prst="rect">
            <a:avLst/>
          </a:prstGeom>
        </p:spPr>
      </p:pic>
      <p:sp>
        <p:nvSpPr>
          <p:cNvPr id="6" name="Recommendation number 1"/>
          <p:cNvSpPr txBox="1"/>
          <p:nvPr/>
        </p:nvSpPr>
        <p:spPr>
          <a:xfrm>
            <a:off x="3246120" y="187452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6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600" dirty="0"/>
          </a:p>
        </p:txBody>
      </p:sp>
      <p:sp>
        <p:nvSpPr>
          <p:cNvPr id="7" name="Recommendation heading 1"/>
          <p:cNvSpPr txBox="1"/>
          <p:nvPr/>
        </p:nvSpPr>
        <p:spPr>
          <a:xfrm>
            <a:off x="822960" y="269748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Test a weekend or seasonal membership</a:t>
            </a:r>
            <a:endParaRPr lang="en-US" sz="1800" dirty="0"/>
          </a:p>
        </p:txBody>
      </p:sp>
      <p:sp>
        <p:nvSpPr>
          <p:cNvPr id="8" name="Recommendation evidence 1"/>
          <p:cNvSpPr txBox="1"/>
          <p:nvPr/>
        </p:nvSpPr>
        <p:spPr>
          <a:xfrm>
            <a:off x="822960" y="361188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Evidence: </a:t>
            </a:r>
            <a:r>
              <a:rPr lang="en-US" sz="1400" dirty="0">
                <a:solidFill>
                  <a:schemeClr val="tx1"/>
                </a:solidFill>
              </a:rPr>
              <a:t>52.9% of casual trips are Friday–Sunday. Their share is 17.9% in January and 40.8% in July.</a:t>
            </a:r>
            <a:endParaRPr lang="en-US" sz="1400" dirty="0"/>
          </a:p>
        </p:txBody>
      </p:sp>
      <p:sp>
        <p:nvSpPr>
          <p:cNvPr id="9" name="Recommendation pilot 1"/>
          <p:cNvSpPr txBox="1"/>
          <p:nvPr/>
        </p:nvSpPr>
        <p:spPr>
          <a:xfrm>
            <a:off x="822960" y="466344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Pilot: </a:t>
            </a:r>
            <a:r>
              <a:rPr lang="en-US" sz="1400" dirty="0">
                <a:solidFill>
                  <a:schemeClr val="tx1"/>
                </a:solidFill>
              </a:rPr>
              <a:t>Offer the plan for a set period and compare conversion.</a:t>
            </a:r>
            <a:endParaRPr lang="en-US" sz="1400" dirty="0"/>
          </a:p>
        </p:txBody>
      </p:sp>
      <p:sp>
        <p:nvSpPr>
          <p:cNvPr id="10" name="Recommendation card 2"/>
          <p:cNvSpPr/>
          <p:nvPr/>
        </p:nvSpPr>
        <p:spPr>
          <a:xfrm>
            <a:off x="4335628" y="1691640"/>
            <a:ext cx="3520440" cy="3977640"/>
          </a:xfrm>
          <a:prstGeom prst="roundRect">
            <a:avLst>
              <a:gd name="adj" fmla="val 2597"/>
            </a:avLst>
          </a:prstGeom>
          <a:solidFill>
            <a:schemeClr val="bg1"/>
          </a:solidFill>
          <a:ln/>
        </p:spPr>
      </p:sp>
      <p:sp>
        <p:nvSpPr>
          <p:cNvPr id="11" name="Recommendation icon 2 circle"/>
          <p:cNvSpPr/>
          <p:nvPr/>
        </p:nvSpPr>
        <p:spPr>
          <a:xfrm>
            <a:off x="4609948" y="1920240"/>
            <a:ext cx="594360" cy="59436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2" name="Recommendation icon 2 icon" descr="Recommendation ic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2594" y="2062886"/>
            <a:ext cx="309067" cy="309067"/>
          </a:xfrm>
          <a:prstGeom prst="rect">
            <a:avLst/>
          </a:prstGeom>
        </p:spPr>
      </p:pic>
      <p:sp>
        <p:nvSpPr>
          <p:cNvPr id="13" name="Recommendation number 2"/>
          <p:cNvSpPr txBox="1"/>
          <p:nvPr/>
        </p:nvSpPr>
        <p:spPr>
          <a:xfrm>
            <a:off x="7033108" y="187452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6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600" dirty="0"/>
          </a:p>
        </p:txBody>
      </p:sp>
      <p:sp>
        <p:nvSpPr>
          <p:cNvPr id="14" name="Recommendation heading 2"/>
          <p:cNvSpPr txBox="1"/>
          <p:nvPr/>
        </p:nvSpPr>
        <p:spPr>
          <a:xfrm>
            <a:off x="4609948" y="269748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Pilot a campaign at busy casual stations</a:t>
            </a:r>
            <a:endParaRPr lang="en-US" sz="1800" dirty="0"/>
          </a:p>
        </p:txBody>
      </p:sp>
      <p:sp>
        <p:nvSpPr>
          <p:cNvPr id="15" name="Recommendation evidence 2"/>
          <p:cNvSpPr txBox="1"/>
          <p:nvPr/>
        </p:nvSpPr>
        <p:spPr>
          <a:xfrm>
            <a:off x="4609948" y="361188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Evidence: </a:t>
            </a:r>
            <a:r>
              <a:rPr lang="en-US" sz="1400" dirty="0">
                <a:solidFill>
                  <a:schemeClr val="tx1"/>
                </a:solidFill>
              </a:rPr>
              <a:t>The top 10 stations hold 11.7% of casual trips. Round-trip share is 3.4× the members’.</a:t>
            </a:r>
            <a:endParaRPr lang="en-US" sz="1400" dirty="0"/>
          </a:p>
        </p:txBody>
      </p:sp>
      <p:sp>
        <p:nvSpPr>
          <p:cNvPr id="16" name="Recommendation pilot 2"/>
          <p:cNvSpPr txBox="1"/>
          <p:nvPr/>
        </p:nvSpPr>
        <p:spPr>
          <a:xfrm>
            <a:off x="4609948" y="466344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Pilot: </a:t>
            </a:r>
            <a:r>
              <a:rPr lang="en-US" sz="1400" dirty="0">
                <a:solidFill>
                  <a:schemeClr val="tx1"/>
                </a:solidFill>
              </a:rPr>
              <a:t>Promote membership at a few stations and compare with control stations.</a:t>
            </a:r>
            <a:endParaRPr lang="en-US" sz="1400" dirty="0"/>
          </a:p>
        </p:txBody>
      </p:sp>
      <p:sp>
        <p:nvSpPr>
          <p:cNvPr id="17" name="Recommendation card 3"/>
          <p:cNvSpPr/>
          <p:nvPr/>
        </p:nvSpPr>
        <p:spPr>
          <a:xfrm>
            <a:off x="8122615" y="1691640"/>
            <a:ext cx="3520440" cy="3977640"/>
          </a:xfrm>
          <a:prstGeom prst="roundRect">
            <a:avLst>
              <a:gd name="adj" fmla="val 2597"/>
            </a:avLst>
          </a:prstGeom>
          <a:solidFill>
            <a:schemeClr val="bg1"/>
          </a:solidFill>
          <a:ln/>
        </p:spPr>
      </p:sp>
      <p:sp>
        <p:nvSpPr>
          <p:cNvPr id="18" name="Recommendation icon 3 circle"/>
          <p:cNvSpPr/>
          <p:nvPr/>
        </p:nvSpPr>
        <p:spPr>
          <a:xfrm>
            <a:off x="8396935" y="1920240"/>
            <a:ext cx="594360" cy="59436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9" name="Recommendation icon 3 icon" descr="Recommendation icon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39582" y="2062886"/>
            <a:ext cx="309067" cy="309067"/>
          </a:xfrm>
          <a:prstGeom prst="rect">
            <a:avLst/>
          </a:prstGeom>
        </p:spPr>
      </p:pic>
      <p:sp>
        <p:nvSpPr>
          <p:cNvPr id="20" name="Recommendation number 3"/>
          <p:cNvSpPr txBox="1"/>
          <p:nvPr/>
        </p:nvSpPr>
        <p:spPr>
          <a:xfrm>
            <a:off x="10820095" y="187452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6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600" dirty="0"/>
          </a:p>
        </p:txBody>
      </p:sp>
      <p:sp>
        <p:nvSpPr>
          <p:cNvPr id="21" name="Recommendation heading 3"/>
          <p:cNvSpPr txBox="1"/>
          <p:nvPr/>
        </p:nvSpPr>
        <p:spPr>
          <a:xfrm>
            <a:off x="8396935" y="269748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Start campaigns before summer</a:t>
            </a:r>
            <a:endParaRPr lang="en-US" sz="1800" dirty="0"/>
          </a:p>
        </p:txBody>
      </p:sp>
      <p:sp>
        <p:nvSpPr>
          <p:cNvPr id="22" name="Recommendation evidence 3"/>
          <p:cNvSpPr txBox="1"/>
          <p:nvPr/>
        </p:nvSpPr>
        <p:spPr>
          <a:xfrm>
            <a:off x="8396935" y="361188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Evidence: </a:t>
            </a:r>
            <a:r>
              <a:rPr lang="en-US" sz="1400" dirty="0">
                <a:solidFill>
                  <a:schemeClr val="tx1"/>
                </a:solidFill>
              </a:rPr>
              <a:t>Casual share is 27–29% in March–April and 37% in May.</a:t>
            </a:r>
            <a:endParaRPr lang="en-US" sz="1400" dirty="0"/>
          </a:p>
        </p:txBody>
      </p:sp>
      <p:sp>
        <p:nvSpPr>
          <p:cNvPr id="23" name="Recommendation pilot 3"/>
          <p:cNvSpPr txBox="1"/>
          <p:nvPr/>
        </p:nvSpPr>
        <p:spPr>
          <a:xfrm>
            <a:off x="8396935" y="466344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Pilot: </a:t>
            </a:r>
            <a:r>
              <a:rPr lang="en-US" sz="1400" dirty="0">
                <a:solidFill>
                  <a:schemeClr val="tx1"/>
                </a:solidFill>
              </a:rPr>
              <a:t>Start in April and measure the May–August effect.</a:t>
            </a:r>
            <a:endParaRPr lang="en-US" sz="1400" dirty="0"/>
          </a:p>
        </p:txBody>
      </p:sp>
      <p:sp>
        <p:nvSpPr>
          <p:cNvPr id="24" name="Recommendation footnote"/>
          <p:cNvSpPr txBox="1"/>
          <p:nvPr/>
        </p:nvSpPr>
        <p:spPr>
          <a:xfrm>
            <a:off x="548640" y="58521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The data shows where testing makes sense; only a pilot shows whether a campaign works.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Appendix: data source and method</a:t>
            </a:r>
            <a:endParaRPr lang="en-US" sz="3600" dirty="0"/>
          </a:p>
        </p:txBody>
      </p:sp>
      <p:sp>
        <p:nvSpPr>
          <p:cNvPr id="3" name="Appendix icon 1 circle"/>
          <p:cNvSpPr/>
          <p:nvPr/>
        </p:nvSpPr>
        <p:spPr>
          <a:xfrm>
            <a:off x="548640" y="187452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" name="Appendix icon 1 icon" descr="Appendix ico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205" y="2050085"/>
            <a:ext cx="380390" cy="380390"/>
          </a:xfrm>
          <a:prstGeom prst="rect">
            <a:avLst/>
          </a:prstGeom>
        </p:spPr>
      </p:pic>
      <p:sp>
        <p:nvSpPr>
          <p:cNvPr id="5" name="Appendix heading 1"/>
          <p:cNvSpPr txBox="1"/>
          <p:nvPr/>
        </p:nvSpPr>
        <p:spPr>
          <a:xfrm>
            <a:off x="1645920" y="178308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Data and tools</a:t>
            </a:r>
            <a:endParaRPr lang="en-US" sz="2000" dirty="0"/>
          </a:p>
        </p:txBody>
      </p:sp>
      <p:sp>
        <p:nvSpPr>
          <p:cNvPr id="6" name="Appendix text 1"/>
          <p:cNvSpPr txBox="1"/>
          <p:nvPr/>
        </p:nvSpPr>
        <p:spPr>
          <a:xfrm>
            <a:off x="1645920" y="2240280"/>
            <a:ext cx="9966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Divvy public trip data (Motivate International Inc. license), 12 monthly tables. Analysis done in MySQL.</a:t>
            </a:r>
            <a:endParaRPr lang="en-US" sz="1600" dirty="0"/>
          </a:p>
        </p:txBody>
      </p:sp>
      <p:sp>
        <p:nvSpPr>
          <p:cNvPr id="7" name="Appendix icon 2 circle"/>
          <p:cNvSpPr/>
          <p:nvPr/>
        </p:nvSpPr>
        <p:spPr>
          <a:xfrm>
            <a:off x="548640" y="333756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8" name="Appendix icon 2 icon" descr="Appendix ic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205" y="3513125"/>
            <a:ext cx="380390" cy="380390"/>
          </a:xfrm>
          <a:prstGeom prst="rect">
            <a:avLst/>
          </a:prstGeom>
        </p:spPr>
      </p:pic>
      <p:sp>
        <p:nvSpPr>
          <p:cNvPr id="9" name="Appendix heading 2"/>
          <p:cNvSpPr txBox="1"/>
          <p:nvPr/>
        </p:nvSpPr>
        <p:spPr>
          <a:xfrm>
            <a:off x="1645920" y="324612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Method</a:t>
            </a:r>
            <a:endParaRPr lang="en-US" sz="2000" dirty="0"/>
          </a:p>
        </p:txBody>
      </p:sp>
      <p:sp>
        <p:nvSpPr>
          <p:cNvPr id="10" name="Appendix text 2"/>
          <p:cNvSpPr txBox="1"/>
          <p:nvPr/>
        </p:nvSpPr>
        <p:spPr>
          <a:xfrm>
            <a:off x="1645920" y="3703320"/>
            <a:ext cx="9966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Hypotheses, thresholds and refutation conditions were written before seeing results; later ones are marked “exploratory”. Every step was recorded in a cleaning log.</a:t>
            </a:r>
            <a:endParaRPr lang="en-US" sz="1600" dirty="0"/>
          </a:p>
        </p:txBody>
      </p:sp>
      <p:sp>
        <p:nvSpPr>
          <p:cNvPr id="11" name="Appendix icon 3 circle"/>
          <p:cNvSpPr/>
          <p:nvPr/>
        </p:nvSpPr>
        <p:spPr>
          <a:xfrm>
            <a:off x="548640" y="480060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Appendix icon 3 icon" descr="Appendix icon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4205" y="4976165"/>
            <a:ext cx="380390" cy="380390"/>
          </a:xfrm>
          <a:prstGeom prst="rect">
            <a:avLst/>
          </a:prstGeom>
        </p:spPr>
      </p:pic>
      <p:sp>
        <p:nvSpPr>
          <p:cNvPr id="13" name="Appendix heading 3"/>
          <p:cNvSpPr txBox="1"/>
          <p:nvPr/>
        </p:nvSpPr>
        <p:spPr>
          <a:xfrm>
            <a:off x="1645920" y="470916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Note on tools</a:t>
            </a:r>
            <a:endParaRPr lang="en-US" sz="2000" dirty="0"/>
          </a:p>
        </p:txBody>
      </p:sp>
      <p:sp>
        <p:nvSpPr>
          <p:cNvPr id="14" name="Appendix text 3"/>
          <p:cNvSpPr txBox="1"/>
          <p:nvPr/>
        </p:nvSpPr>
        <p:spPr>
          <a:xfrm>
            <a:off x="1645920" y="5166360"/>
            <a:ext cx="9966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Queries were developed together with an AI assistant; results were verified with row totals and cross-checks.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yclistic Share">
  <a:themeElements>
    <a:clrScheme name="Cyclistic Share">
      <a:dk1>
        <a:srgbClr val="1F2A33"/>
      </a:dk1>
      <a:lt1>
        <a:srgbClr val="FFFFFF"/>
      </a:lt1>
      <a:dk2>
        <a:srgbClr val="0F3D4A"/>
      </a:dk2>
      <a:lt2>
        <a:srgbClr val="F1F4F5"/>
      </a:lt2>
      <a:accent1>
        <a:srgbClr val="1B7F8C"/>
      </a:accent1>
      <a:accent2>
        <a:srgbClr val="E8793A"/>
      </a:accent2>
      <a:accent3>
        <a:srgbClr val="7A8B94"/>
      </a:accent3>
      <a:accent4>
        <a:srgbClr val="F2B134"/>
      </a:accent4>
      <a:accent5>
        <a:srgbClr val="4C9A7A"/>
      </a:accent5>
      <a:accent6>
        <a:srgbClr val="5B6770"/>
      </a:accent6>
      <a:hlink>
        <a:srgbClr val="1B7F8C"/>
      </a:hlink>
      <a:folHlink>
        <a:srgbClr val="7A8B94"/>
      </a:folHlink>
    </a:clrScheme>
    <a:fontScheme name="Cyclistic Shar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1439</Words>
  <Application>Microsoft Office PowerPoint</Application>
  <PresentationFormat>Geniş ekran</PresentationFormat>
  <Paragraphs>158</Paragraphs>
  <Slides>13</Slides>
  <Notes>13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13</vt:i4>
      </vt:variant>
    </vt:vector>
  </HeadingPairs>
  <TitlesOfParts>
    <vt:vector size="17" baseType="lpstr">
      <vt:lpstr>Arial</vt:lpstr>
      <vt:lpstr>Calibri</vt:lpstr>
      <vt:lpstr>Cambria</vt:lpstr>
      <vt:lpstr>Cyclistic Share</vt:lpstr>
      <vt:lpstr>How do annual members and casual riders use Cyclistic bikes differently?</vt:lpstr>
      <vt:lpstr>Casual trips concentrate in summer, on weekends and at a few stations</vt:lpstr>
      <vt:lpstr>Task: find the differences that could convert casual riders to members</vt:lpstr>
      <vt:lpstr>From 6.17 million rows to 6.01 million rows of clean data</vt:lpstr>
      <vt:lpstr>Casual share of trips rises to 40% in summer and falls to 18% in winter</vt:lpstr>
      <vt:lpstr>53% of casual trips fall on Friday–Sunday</vt:lpstr>
      <vt:lpstr>Members peak on weekday mornings and evenings; weekends show no peaks</vt:lpstr>
      <vt:lpstr>Casual trips are longer on both bike types, most of all on classic bikes</vt:lpstr>
      <vt:lpstr>74% of casual trips are made on electric bikes</vt:lpstr>
      <vt:lpstr>Casual trips concentrate at a few stations</vt:lpstr>
      <vt:lpstr>Limits of these findings</vt:lpstr>
      <vt:lpstr>Three recommendations: test with a small pilot first</vt:lpstr>
      <vt:lpstr>Appendix: data source and method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do annual members and casual riders use Cyclistic bikes differently?</dc:title>
  <dc:subject>PptxGenJS Presentation</dc:subject>
  <dc:creator>PptxGenJS</dc:creator>
  <cp:lastModifiedBy>Uğur ATAK</cp:lastModifiedBy>
  <cp:revision>2</cp:revision>
  <dcterms:created xsi:type="dcterms:W3CDTF">2026-10-27T10:51:04Z</dcterms:created>
  <dcterms:modified xsi:type="dcterms:W3CDTF">2026-10-27T11:07:19Z</dcterms:modified>
</cp:coreProperties>
</file>